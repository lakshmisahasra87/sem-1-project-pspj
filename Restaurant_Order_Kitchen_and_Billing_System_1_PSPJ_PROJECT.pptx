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12192000"/>
  <p:embeddedFontLst>
    <p:embeddedFont>
      <p:font typeface="Gabarito ExtraBold" panose="020B0604020202020204" charset="0"/>
      <p:regular r:id="rId13"/>
    </p:embeddedFont>
    <p:embeddedFont>
      <p:font typeface="Poppins" panose="00000500000000000000" pitchFamily="2" charset="0"/>
      <p:regular r:id="rId14"/>
    </p:embeddedFont>
    <p:embeddedFont>
      <p:font typeface="Poppins Bold" panose="020B0604020202020204" charset="0"/>
      <p:regular r:id="rId15"/>
    </p:embeddedFont>
    <p:embeddedFont>
      <p:font typeface="Poppins ExtraBold" panose="020B0502040204020203" pitchFamily="2" charset="0"/>
      <p:regular r:id="rId16"/>
    </p:embeddedFont>
    <p:embeddedFont>
      <p:font typeface="Poppins Medium" panose="020B0502040204020203" pitchFamily="2" charset="0"/>
      <p:regular r:id="rId17"/>
    </p:embeddedFont>
    <p:embeddedFont>
      <p:font typeface="Poppins SemiBold" panose="020B0502040204020203" pitchFamily="2" charset="0"/>
      <p:regular r:id="rId18"/>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3" d="100"/>
          <a:sy n="63" d="100"/>
        </p:scale>
        <p:origin x="780"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font" Target="fonts/font6.fntdata"/><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font" Target="fonts/font5.fntdata"/><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3.fntdata"/><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731416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DEC6A8"/>
          </a:solidFill>
          <a:ln/>
        </p:spPr>
      </p:sp>
      <p:sp>
        <p:nvSpPr>
          <p:cNvPr id="3" name="Shape 1"/>
          <p:cNvSpPr/>
          <p:nvPr/>
        </p:nvSpPr>
        <p:spPr>
          <a:xfrm>
            <a:off x="0" y="0"/>
            <a:ext cx="12191695" cy="6858000"/>
          </a:xfrm>
          <a:prstGeom prst="rect">
            <a:avLst/>
          </a:prstGeom>
          <a:solidFill>
            <a:srgbClr val="FFF9F1"/>
          </a:solidFill>
          <a:ln/>
        </p:spPr>
      </p:sp>
      <p:pic>
        <p:nvPicPr>
          <p:cNvPr id="4" name="Image 0" descr="preencoded.png"/>
          <p:cNvPicPr>
            <a:picLocks noChangeAspect="1"/>
          </p:cNvPicPr>
          <p:nvPr/>
        </p:nvPicPr>
        <p:blipFill>
          <a:blip r:embed="rId2"/>
          <a:stretch>
            <a:fillRect/>
          </a:stretch>
        </p:blipFill>
        <p:spPr>
          <a:xfrm>
            <a:off x="0" y="0"/>
            <a:ext cx="12191695" cy="6858000"/>
          </a:xfrm>
          <a:prstGeom prst="rect">
            <a:avLst/>
          </a:prstGeom>
        </p:spPr>
      </p:pic>
      <p:sp>
        <p:nvSpPr>
          <p:cNvPr id="5" name="Shape 2"/>
          <p:cNvSpPr/>
          <p:nvPr/>
        </p:nvSpPr>
        <p:spPr>
          <a:xfrm>
            <a:off x="0" y="0"/>
            <a:ext cx="12191695" cy="6858000"/>
          </a:xfrm>
          <a:prstGeom prst="rect">
            <a:avLst/>
          </a:prstGeom>
          <a:solidFill>
            <a:srgbClr val="000000">
              <a:alpha val="45000"/>
            </a:srgbClr>
          </a:solidFill>
          <a:ln/>
        </p:spPr>
      </p:sp>
      <p:pic>
        <p:nvPicPr>
          <p:cNvPr id="6" name="Image 1" descr="preencoded.png">
            <a:hlinkClick r:id="rId3"/>
          </p:cNvPr>
          <p:cNvPicPr>
            <a:picLocks noChangeAspect="1"/>
          </p:cNvPicPr>
          <p:nvPr/>
        </p:nvPicPr>
        <p:blipFill>
          <a:blip r:embed="rId4"/>
          <a:stretch>
            <a:fillRect/>
          </a:stretch>
        </p:blipFill>
        <p:spPr>
          <a:xfrm>
            <a:off x="11076875" y="6558991"/>
            <a:ext cx="1071843" cy="256032"/>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master 2">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DEC6A8"/>
          </a:solidFill>
          <a:ln/>
        </p:spPr>
      </p:sp>
      <p:sp>
        <p:nvSpPr>
          <p:cNvPr id="3" name="Shape 1"/>
          <p:cNvSpPr/>
          <p:nvPr/>
        </p:nvSpPr>
        <p:spPr>
          <a:xfrm>
            <a:off x="0" y="0"/>
            <a:ext cx="12191695" cy="6858000"/>
          </a:xfrm>
          <a:prstGeom prst="rect">
            <a:avLst/>
          </a:prstGeom>
          <a:solidFill>
            <a:srgbClr val="FFF9F1"/>
          </a:solidFill>
          <a:ln/>
        </p:spPr>
      </p:sp>
      <p:pic>
        <p:nvPicPr>
          <p:cNvPr id="4" name="Image 0" descr="preencoded.png">
            <a:hlinkClick r:id="rId2"/>
          </p:cNvPr>
          <p:cNvPicPr>
            <a:picLocks noChangeAspect="1"/>
          </p:cNvPicPr>
          <p:nvPr/>
        </p:nvPicPr>
        <p:blipFill>
          <a:blip r:embed="rId3"/>
          <a:stretch>
            <a:fillRect/>
          </a:stretch>
        </p:blipFill>
        <p:spPr>
          <a:xfrm>
            <a:off x="11076875" y="6558991"/>
            <a:ext cx="1071843" cy="256032"/>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master 3">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DEC6A8"/>
          </a:solidFill>
          <a:ln/>
        </p:spPr>
      </p:sp>
      <p:sp>
        <p:nvSpPr>
          <p:cNvPr id="3" name="Shape 1"/>
          <p:cNvSpPr/>
          <p:nvPr/>
        </p:nvSpPr>
        <p:spPr>
          <a:xfrm>
            <a:off x="0" y="0"/>
            <a:ext cx="12191695" cy="6858000"/>
          </a:xfrm>
          <a:prstGeom prst="rect">
            <a:avLst/>
          </a:prstGeom>
          <a:solidFill>
            <a:srgbClr val="FFF9F1"/>
          </a:solidFill>
          <a:ln/>
        </p:spPr>
      </p:sp>
      <p:sp>
        <p:nvSpPr>
          <p:cNvPr id="4" name="Shape 2"/>
          <p:cNvSpPr/>
          <p:nvPr/>
        </p:nvSpPr>
        <p:spPr>
          <a:xfrm>
            <a:off x="0" y="0"/>
            <a:ext cx="12191695" cy="6858000"/>
          </a:xfrm>
          <a:prstGeom prst="rect">
            <a:avLst/>
          </a:prstGeom>
          <a:solidFill>
            <a:srgbClr val="F4E5D2"/>
          </a:solidFill>
          <a:ln/>
        </p:spPr>
      </p:sp>
      <p:pic>
        <p:nvPicPr>
          <p:cNvPr id="5" name="Image 0" descr="preencoded.png">
            <a:hlinkClick r:id="rId2"/>
          </p:cNvPr>
          <p:cNvPicPr>
            <a:picLocks noChangeAspect="1"/>
          </p:cNvPicPr>
          <p:nvPr/>
        </p:nvPicPr>
        <p:blipFill>
          <a:blip r:embed="rId3"/>
          <a:stretch>
            <a:fillRect/>
          </a:stretch>
        </p:blipFill>
        <p:spPr>
          <a:xfrm>
            <a:off x="11076875" y="65589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558786" y="1068685"/>
            <a:ext cx="7162621" cy="243780"/>
          </a:xfrm>
          <a:prstGeom prst="rect">
            <a:avLst/>
          </a:prstGeom>
          <a:noFill/>
          <a:ln/>
        </p:spPr>
        <p:txBody>
          <a:bodyPr wrap="none" lIns="0" tIns="0" rIns="0" bIns="0" rtlCol="0" anchor="t"/>
          <a:lstStyle/>
          <a:p>
            <a:pPr marL="0" indent="0" algn="l">
              <a:lnSpc>
                <a:spcPct val="100000"/>
              </a:lnSpc>
              <a:buNone/>
            </a:pPr>
            <a:r>
              <a:rPr lang="en-US" sz="1600" kern="0" spc="16" dirty="0">
                <a:solidFill>
                  <a:srgbClr val="FFFFFF"/>
                </a:solidFill>
                <a:latin typeface="Poppins SemiBold" pitchFamily="34" charset="0"/>
                <a:ea typeface="Poppins SemiBold" pitchFamily="34" charset="-122"/>
                <a:cs typeface="Poppins SemiBold" pitchFamily="34" charset="-120"/>
              </a:rPr>
              <a:t>CLASSROOM PROJECT</a:t>
            </a:r>
            <a:endParaRPr lang="en-US" sz="1600" dirty="0"/>
          </a:p>
        </p:txBody>
      </p:sp>
      <p:sp>
        <p:nvSpPr>
          <p:cNvPr id="3" name="Text 1"/>
          <p:cNvSpPr/>
          <p:nvPr/>
        </p:nvSpPr>
        <p:spPr>
          <a:xfrm>
            <a:off x="558786" y="1407716"/>
            <a:ext cx="6603835" cy="1267817"/>
          </a:xfrm>
          <a:prstGeom prst="rect">
            <a:avLst/>
          </a:prstGeom>
          <a:noFill/>
          <a:ln/>
        </p:spPr>
        <p:txBody>
          <a:bodyPr wrap="square" lIns="0" tIns="0" rIns="0" bIns="0" rtlCol="0" anchor="t">
            <a:normAutofit/>
          </a:bodyPr>
          <a:lstStyle/>
          <a:p>
            <a:pPr marL="0" indent="0" algn="l">
              <a:lnSpc>
                <a:spcPct val="87000"/>
              </a:lnSpc>
              <a:buNone/>
            </a:pPr>
            <a:r>
              <a:rPr lang="en-US" sz="4800" kern="0" spc="-48" dirty="0">
                <a:solidFill>
                  <a:srgbClr val="FFFFFF"/>
                </a:solidFill>
                <a:latin typeface="Gabarito ExtraBold" pitchFamily="34" charset="0"/>
                <a:ea typeface="Gabarito ExtraBold" pitchFamily="34" charset="-122"/>
                <a:cs typeface="Gabarito ExtraBold" pitchFamily="34" charset="-120"/>
              </a:rPr>
              <a:t>Restaurant Order,</a:t>
            </a:r>
            <a:endParaRPr lang="en-US" sz="4800" dirty="0"/>
          </a:p>
          <a:p>
            <a:pPr marL="0" indent="0" algn="l">
              <a:lnSpc>
                <a:spcPct val="87000"/>
              </a:lnSpc>
              <a:buNone/>
            </a:pPr>
            <a:r>
              <a:rPr lang="en-US" sz="4800" kern="0" spc="-48" dirty="0">
                <a:solidFill>
                  <a:srgbClr val="FFFFFF"/>
                </a:solidFill>
                <a:latin typeface="Gabarito ExtraBold" pitchFamily="34" charset="0"/>
                <a:ea typeface="Gabarito ExtraBold" pitchFamily="34" charset="-122"/>
                <a:cs typeface="Gabarito ExtraBold" pitchFamily="34" charset="-120"/>
              </a:rPr>
              <a:t>Kitchen &amp; Billing System</a:t>
            </a:r>
            <a:endParaRPr lang="en-US" sz="4800" dirty="0"/>
          </a:p>
        </p:txBody>
      </p:sp>
      <p:sp>
        <p:nvSpPr>
          <p:cNvPr id="4" name="Shape 2"/>
          <p:cNvSpPr/>
          <p:nvPr/>
        </p:nvSpPr>
        <p:spPr>
          <a:xfrm>
            <a:off x="558786" y="2986683"/>
            <a:ext cx="2179186" cy="57150"/>
          </a:xfrm>
          <a:prstGeom prst="roundRect">
            <a:avLst>
              <a:gd name="adj" fmla="val 49999"/>
            </a:avLst>
          </a:prstGeom>
          <a:solidFill>
            <a:srgbClr val="3DB7F5"/>
          </a:solidFill>
          <a:ln/>
        </p:spPr>
      </p:sp>
      <p:sp>
        <p:nvSpPr>
          <p:cNvPr id="5" name="Text 3"/>
          <p:cNvSpPr/>
          <p:nvPr/>
        </p:nvSpPr>
        <p:spPr>
          <a:xfrm>
            <a:off x="558786" y="3523258"/>
            <a:ext cx="6603835" cy="462260"/>
          </a:xfrm>
          <a:prstGeom prst="rect">
            <a:avLst/>
          </a:prstGeom>
          <a:noFill/>
          <a:ln/>
        </p:spPr>
        <p:txBody>
          <a:bodyPr wrap="none" lIns="0" tIns="0" rIns="0" bIns="0" rtlCol="0" anchor="t"/>
          <a:lstStyle/>
          <a:p>
            <a:pPr marL="0" indent="0" algn="l">
              <a:lnSpc>
                <a:spcPct val="108000"/>
              </a:lnSpc>
              <a:buNone/>
            </a:pPr>
            <a:r>
              <a:rPr lang="en-US" sz="2800" dirty="0">
                <a:solidFill>
                  <a:srgbClr val="FFFFFF"/>
                </a:solidFill>
                <a:latin typeface="Poppins Medium" pitchFamily="34" charset="0"/>
                <a:ea typeface="Poppins Medium" pitchFamily="34" charset="-122"/>
                <a:cs typeface="Poppins Medium" pitchFamily="34" charset="-120"/>
              </a:rPr>
              <a:t>Project team</a:t>
            </a:r>
            <a:endParaRPr lang="en-US" sz="2800" dirty="0"/>
          </a:p>
        </p:txBody>
      </p:sp>
      <p:sp>
        <p:nvSpPr>
          <p:cNvPr id="6" name="Text 4"/>
          <p:cNvSpPr/>
          <p:nvPr/>
        </p:nvSpPr>
        <p:spPr>
          <a:xfrm>
            <a:off x="558786" y="4156968"/>
            <a:ext cx="6603835" cy="1632446"/>
          </a:xfrm>
          <a:prstGeom prst="rect">
            <a:avLst/>
          </a:prstGeom>
          <a:noFill/>
          <a:ln/>
        </p:spPr>
        <p:txBody>
          <a:bodyPr wrap="square" lIns="0" tIns="0" rIns="0" bIns="0" rtlCol="0" anchor="t"/>
          <a:lstStyle/>
          <a:p>
            <a:pPr marL="0" indent="0" algn="l">
              <a:lnSpc>
                <a:spcPct val="110000"/>
              </a:lnSpc>
              <a:spcAft>
                <a:spcPts val="1650"/>
              </a:spcAft>
              <a:buNone/>
            </a:pPr>
            <a:r>
              <a:rPr lang="en-US" sz="2400" dirty="0">
                <a:solidFill>
                  <a:srgbClr val="FFFFFF"/>
                </a:solidFill>
                <a:latin typeface="Poppins" pitchFamily="34" charset="0"/>
                <a:ea typeface="Poppins" pitchFamily="34" charset="-122"/>
                <a:cs typeface="Poppins" pitchFamily="34" charset="-120"/>
              </a:rPr>
              <a:t>Sai Pranathi</a:t>
            </a:r>
            <a:endParaRPr lang="en-US" sz="2400" dirty="0"/>
          </a:p>
          <a:p>
            <a:pPr marL="0" indent="0" algn="l">
              <a:lnSpc>
                <a:spcPct val="110000"/>
              </a:lnSpc>
              <a:spcAft>
                <a:spcPts val="1650"/>
              </a:spcAft>
              <a:buNone/>
            </a:pPr>
            <a:r>
              <a:rPr lang="en-US" sz="2400" dirty="0">
                <a:solidFill>
                  <a:srgbClr val="FFFFFF"/>
                </a:solidFill>
                <a:latin typeface="Poppins" pitchFamily="34" charset="0"/>
                <a:ea typeface="Poppins" pitchFamily="34" charset="-122"/>
                <a:cs typeface="Poppins" pitchFamily="34" charset="-120"/>
              </a:rPr>
              <a:t>Hithesree</a:t>
            </a:r>
            <a:endParaRPr lang="en-US" sz="2400" dirty="0"/>
          </a:p>
          <a:p>
            <a:pPr marL="0" indent="0" algn="l">
              <a:lnSpc>
                <a:spcPct val="110000"/>
              </a:lnSpc>
              <a:buNone/>
            </a:pPr>
            <a:r>
              <a:rPr lang="en-US" sz="2400" dirty="0">
                <a:solidFill>
                  <a:srgbClr val="FFFFFF"/>
                </a:solidFill>
                <a:latin typeface="Poppins" pitchFamily="34" charset="0"/>
                <a:ea typeface="Poppins" pitchFamily="34" charset="-122"/>
                <a:cs typeface="Poppins" pitchFamily="34" charset="-120"/>
              </a:rPr>
              <a:t>Sahasra</a:t>
            </a:r>
            <a:endParaRPr lang="en-US" sz="2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58786" y="558800"/>
            <a:ext cx="11632909" cy="243780"/>
          </a:xfrm>
          <a:prstGeom prst="rect">
            <a:avLst/>
          </a:prstGeom>
          <a:noFill/>
          <a:ln/>
        </p:spPr>
        <p:txBody>
          <a:bodyPr wrap="none" lIns="0" tIns="0" rIns="0" bIns="0" rtlCol="0" anchor="t"/>
          <a:lstStyle/>
          <a:p>
            <a:pPr marL="0" indent="0" algn="l">
              <a:lnSpc>
                <a:spcPct val="100000"/>
              </a:lnSpc>
              <a:buNone/>
            </a:pPr>
            <a:r>
              <a:rPr lang="en-US" sz="1600" kern="0" spc="16" dirty="0">
                <a:solidFill>
                  <a:srgbClr val="17141F"/>
                </a:solidFill>
                <a:latin typeface="Poppins SemiBold" pitchFamily="34" charset="0"/>
                <a:ea typeface="Poppins SemiBold" pitchFamily="34" charset="-122"/>
                <a:cs typeface="Poppins SemiBold" pitchFamily="34" charset="-120"/>
              </a:rPr>
              <a:t>THE IDEA(ABSTRACT)</a:t>
            </a:r>
            <a:endParaRPr lang="en-US" sz="1600" dirty="0"/>
          </a:p>
        </p:txBody>
      </p:sp>
      <p:sp>
        <p:nvSpPr>
          <p:cNvPr id="3" name="Text 1"/>
          <p:cNvSpPr/>
          <p:nvPr/>
        </p:nvSpPr>
        <p:spPr>
          <a:xfrm>
            <a:off x="558786" y="897830"/>
            <a:ext cx="11074123" cy="548580"/>
          </a:xfrm>
          <a:prstGeom prst="rect">
            <a:avLst/>
          </a:prstGeom>
          <a:noFill/>
          <a:ln/>
        </p:spPr>
        <p:txBody>
          <a:bodyPr wrap="none" lIns="0" tIns="0" rIns="0" bIns="0" rtlCol="0" anchor="t"/>
          <a:lstStyle/>
          <a:p>
            <a:pPr marL="0" indent="0" algn="l">
              <a:lnSpc>
                <a:spcPct val="90000"/>
              </a:lnSpc>
              <a:buNone/>
            </a:pPr>
            <a:r>
              <a:rPr lang="en-US" sz="4000" kern="0" spc="-40" dirty="0">
                <a:solidFill>
                  <a:srgbClr val="17141F"/>
                </a:solidFill>
                <a:latin typeface="Gabarito ExtraBold" pitchFamily="34" charset="0"/>
                <a:ea typeface="Gabarito ExtraBold" pitchFamily="34" charset="-122"/>
                <a:cs typeface="Gabarito ExtraBold" pitchFamily="34" charset="-120"/>
              </a:rPr>
              <a:t>One system connects the order, kitchen and bill</a:t>
            </a:r>
            <a:endParaRPr lang="en-US" sz="4000" dirty="0"/>
          </a:p>
        </p:txBody>
      </p:sp>
      <p:sp>
        <p:nvSpPr>
          <p:cNvPr id="4" name="Text 2"/>
          <p:cNvSpPr/>
          <p:nvPr/>
        </p:nvSpPr>
        <p:spPr>
          <a:xfrm>
            <a:off x="558786" y="1681361"/>
            <a:ext cx="11074123" cy="1206996"/>
          </a:xfrm>
          <a:prstGeom prst="rect">
            <a:avLst/>
          </a:prstGeom>
          <a:noFill/>
          <a:ln/>
        </p:spPr>
        <p:txBody>
          <a:bodyPr wrap="square" lIns="0" tIns="0" rIns="0" bIns="0" rtlCol="0" anchor="t">
            <a:normAutofit/>
          </a:bodyPr>
          <a:lstStyle/>
          <a:p>
            <a:pPr marL="0" indent="0" algn="l">
              <a:lnSpc>
                <a:spcPct val="110000"/>
              </a:lnSpc>
              <a:buNone/>
            </a:pPr>
            <a:r>
              <a:rPr lang="en-US" sz="2400" dirty="0">
                <a:solidFill>
                  <a:srgbClr val="17141F"/>
                </a:solidFill>
                <a:latin typeface="Poppins" pitchFamily="34" charset="0"/>
                <a:ea typeface="Poppins" pitchFamily="34" charset="-122"/>
                <a:cs typeface="Poppins" pitchFamily="34" charset="-120"/>
              </a:rPr>
              <a:t>A restaurant needs one connected workflow from order entry to payment. It captures customer choices, sends clear item details to the kitchen, then uses the same order information to prepare the bill.</a:t>
            </a:r>
            <a:endParaRPr lang="en-US" sz="2400" dirty="0"/>
          </a:p>
        </p:txBody>
      </p:sp>
      <p:sp>
        <p:nvSpPr>
          <p:cNvPr id="5" name="Text 3"/>
          <p:cNvSpPr/>
          <p:nvPr/>
        </p:nvSpPr>
        <p:spPr>
          <a:xfrm>
            <a:off x="558786" y="3101082"/>
            <a:ext cx="916858" cy="304800"/>
          </a:xfrm>
          <a:prstGeom prst="rect">
            <a:avLst/>
          </a:prstGeom>
          <a:noFill/>
          <a:ln/>
        </p:spPr>
        <p:txBody>
          <a:bodyPr wrap="none" lIns="0" tIns="0" rIns="0" bIns="0" rtlCol="0" anchor="t"/>
          <a:lstStyle/>
          <a:p>
            <a:pPr marL="0" indent="0" algn="l">
              <a:lnSpc>
                <a:spcPct val="83000"/>
              </a:lnSpc>
              <a:buNone/>
            </a:pPr>
            <a:r>
              <a:rPr lang="en-US" sz="2400" dirty="0">
                <a:solidFill>
                  <a:srgbClr val="17141F"/>
                </a:solidFill>
                <a:latin typeface="Poppins SemiBold" pitchFamily="34" charset="0"/>
                <a:ea typeface="Poppins SemiBold" pitchFamily="34" charset="-122"/>
                <a:cs typeface="Poppins SemiBold" pitchFamily="34" charset="-120"/>
              </a:rPr>
              <a:t>01</a:t>
            </a:r>
            <a:endParaRPr lang="en-US" sz="2400" dirty="0"/>
          </a:p>
        </p:txBody>
      </p:sp>
      <p:sp>
        <p:nvSpPr>
          <p:cNvPr id="6" name="Shape 4"/>
          <p:cNvSpPr/>
          <p:nvPr/>
        </p:nvSpPr>
        <p:spPr>
          <a:xfrm>
            <a:off x="558786" y="3527822"/>
            <a:ext cx="3488146" cy="19050"/>
          </a:xfrm>
          <a:prstGeom prst="rect">
            <a:avLst/>
          </a:prstGeom>
          <a:solidFill>
            <a:srgbClr val="FF7A1A"/>
          </a:solidFill>
          <a:ln/>
        </p:spPr>
      </p:sp>
      <p:sp>
        <p:nvSpPr>
          <p:cNvPr id="7" name="Text 5"/>
          <p:cNvSpPr/>
          <p:nvPr/>
        </p:nvSpPr>
        <p:spPr>
          <a:xfrm>
            <a:off x="558786" y="3729732"/>
            <a:ext cx="3488146" cy="462260"/>
          </a:xfrm>
          <a:prstGeom prst="rect">
            <a:avLst/>
          </a:prstGeom>
          <a:noFill/>
          <a:ln/>
        </p:spPr>
        <p:txBody>
          <a:bodyPr wrap="none" lIns="0" tIns="0" rIns="0" bIns="0" rtlCol="0" anchor="t"/>
          <a:lstStyle/>
          <a:p>
            <a:pPr marL="0" indent="0" algn="l">
              <a:lnSpc>
                <a:spcPct val="108000"/>
              </a:lnSpc>
              <a:buNone/>
            </a:pPr>
            <a:r>
              <a:rPr lang="en-US" sz="2800" dirty="0">
                <a:solidFill>
                  <a:srgbClr val="17141F"/>
                </a:solidFill>
                <a:latin typeface="Poppins Medium" pitchFamily="34" charset="0"/>
                <a:ea typeface="Poppins Medium" pitchFamily="34" charset="-122"/>
                <a:cs typeface="Poppins Medium" pitchFamily="34" charset="-120"/>
              </a:rPr>
              <a:t>Capture</a:t>
            </a:r>
            <a:endParaRPr lang="en-US" sz="2800" dirty="0"/>
          </a:p>
        </p:txBody>
      </p:sp>
      <p:sp>
        <p:nvSpPr>
          <p:cNvPr id="8" name="Text 6"/>
          <p:cNvSpPr/>
          <p:nvPr/>
        </p:nvSpPr>
        <p:spPr>
          <a:xfrm>
            <a:off x="558786" y="4363442"/>
            <a:ext cx="3488146" cy="1206996"/>
          </a:xfrm>
          <a:prstGeom prst="rect">
            <a:avLst/>
          </a:prstGeom>
          <a:noFill/>
          <a:ln/>
        </p:spPr>
        <p:txBody>
          <a:bodyPr wrap="square" lIns="0" tIns="0" rIns="0" bIns="0" rtlCol="0" anchor="t">
            <a:normAutofit/>
          </a:bodyPr>
          <a:lstStyle/>
          <a:p>
            <a:pPr marL="0" indent="0" algn="l">
              <a:lnSpc>
                <a:spcPct val="110000"/>
              </a:lnSpc>
              <a:buNone/>
            </a:pPr>
            <a:r>
              <a:rPr lang="en-US" sz="2400" dirty="0">
                <a:solidFill>
                  <a:srgbClr val="17141F"/>
                </a:solidFill>
                <a:latin typeface="Poppins" pitchFamily="34" charset="0"/>
                <a:ea typeface="Poppins" pitchFamily="34" charset="-122"/>
                <a:cs typeface="Poppins" pitchFamily="34" charset="-120"/>
              </a:rPr>
              <a:t>Record the customer’s order accurately at the point of service.</a:t>
            </a:r>
            <a:endParaRPr lang="en-US" sz="2400" dirty="0"/>
          </a:p>
        </p:txBody>
      </p:sp>
      <p:sp>
        <p:nvSpPr>
          <p:cNvPr id="9" name="Text 7"/>
          <p:cNvSpPr/>
          <p:nvPr/>
        </p:nvSpPr>
        <p:spPr>
          <a:xfrm>
            <a:off x="4351725" y="3101082"/>
            <a:ext cx="981447" cy="304800"/>
          </a:xfrm>
          <a:prstGeom prst="rect">
            <a:avLst/>
          </a:prstGeom>
          <a:noFill/>
          <a:ln/>
        </p:spPr>
        <p:txBody>
          <a:bodyPr wrap="none" lIns="0" tIns="0" rIns="0" bIns="0" rtlCol="0" anchor="t"/>
          <a:lstStyle/>
          <a:p>
            <a:pPr marL="0" indent="0" algn="l">
              <a:lnSpc>
                <a:spcPct val="83000"/>
              </a:lnSpc>
              <a:buNone/>
            </a:pPr>
            <a:r>
              <a:rPr lang="en-US" sz="2400" dirty="0">
                <a:solidFill>
                  <a:srgbClr val="17141F"/>
                </a:solidFill>
                <a:latin typeface="Poppins SemiBold" pitchFamily="34" charset="0"/>
                <a:ea typeface="Poppins SemiBold" pitchFamily="34" charset="-122"/>
                <a:cs typeface="Poppins SemiBold" pitchFamily="34" charset="-120"/>
              </a:rPr>
              <a:t>02</a:t>
            </a:r>
            <a:endParaRPr lang="en-US" sz="2400" dirty="0"/>
          </a:p>
        </p:txBody>
      </p:sp>
      <p:sp>
        <p:nvSpPr>
          <p:cNvPr id="10" name="Shape 8"/>
          <p:cNvSpPr/>
          <p:nvPr/>
        </p:nvSpPr>
        <p:spPr>
          <a:xfrm>
            <a:off x="4351725" y="3527822"/>
            <a:ext cx="3488146" cy="19050"/>
          </a:xfrm>
          <a:prstGeom prst="rect">
            <a:avLst/>
          </a:prstGeom>
          <a:solidFill>
            <a:srgbClr val="FF7A1A"/>
          </a:solidFill>
          <a:ln/>
        </p:spPr>
      </p:sp>
      <p:sp>
        <p:nvSpPr>
          <p:cNvPr id="11" name="Text 9"/>
          <p:cNvSpPr/>
          <p:nvPr/>
        </p:nvSpPr>
        <p:spPr>
          <a:xfrm>
            <a:off x="4351725" y="3729732"/>
            <a:ext cx="3488146" cy="462260"/>
          </a:xfrm>
          <a:prstGeom prst="rect">
            <a:avLst/>
          </a:prstGeom>
          <a:noFill/>
          <a:ln/>
        </p:spPr>
        <p:txBody>
          <a:bodyPr wrap="none" lIns="0" tIns="0" rIns="0" bIns="0" rtlCol="0" anchor="t"/>
          <a:lstStyle/>
          <a:p>
            <a:pPr marL="0" indent="0" algn="l">
              <a:lnSpc>
                <a:spcPct val="108000"/>
              </a:lnSpc>
              <a:buNone/>
            </a:pPr>
            <a:r>
              <a:rPr lang="en-US" sz="2800" dirty="0">
                <a:solidFill>
                  <a:srgbClr val="17141F"/>
                </a:solidFill>
                <a:latin typeface="Poppins Medium" pitchFamily="34" charset="0"/>
                <a:ea typeface="Poppins Medium" pitchFamily="34" charset="-122"/>
                <a:cs typeface="Poppins Medium" pitchFamily="34" charset="-120"/>
              </a:rPr>
              <a:t>Prepare</a:t>
            </a:r>
            <a:endParaRPr lang="en-US" sz="2800" dirty="0"/>
          </a:p>
        </p:txBody>
      </p:sp>
      <p:sp>
        <p:nvSpPr>
          <p:cNvPr id="12" name="Text 10"/>
          <p:cNvSpPr/>
          <p:nvPr/>
        </p:nvSpPr>
        <p:spPr>
          <a:xfrm>
            <a:off x="4351725" y="4363442"/>
            <a:ext cx="3488146" cy="1206996"/>
          </a:xfrm>
          <a:prstGeom prst="rect">
            <a:avLst/>
          </a:prstGeom>
          <a:noFill/>
          <a:ln/>
        </p:spPr>
        <p:txBody>
          <a:bodyPr wrap="square" lIns="0" tIns="0" rIns="0" bIns="0" rtlCol="0" anchor="t">
            <a:normAutofit/>
          </a:bodyPr>
          <a:lstStyle/>
          <a:p>
            <a:pPr marL="0" indent="0" algn="l">
              <a:lnSpc>
                <a:spcPct val="110000"/>
              </a:lnSpc>
              <a:buNone/>
            </a:pPr>
            <a:r>
              <a:rPr lang="en-US" sz="2400" dirty="0">
                <a:solidFill>
                  <a:srgbClr val="17141F"/>
                </a:solidFill>
                <a:latin typeface="Poppins" pitchFamily="34" charset="0"/>
                <a:ea typeface="Poppins" pitchFamily="34" charset="-122"/>
                <a:cs typeface="Poppins" pitchFamily="34" charset="-120"/>
              </a:rPr>
              <a:t>Send the right items to the kitchen in a clear sequence.</a:t>
            </a:r>
            <a:endParaRPr lang="en-US" sz="2400" dirty="0"/>
          </a:p>
        </p:txBody>
      </p:sp>
      <p:sp>
        <p:nvSpPr>
          <p:cNvPr id="13" name="Text 11"/>
          <p:cNvSpPr/>
          <p:nvPr/>
        </p:nvSpPr>
        <p:spPr>
          <a:xfrm>
            <a:off x="8144663" y="3101082"/>
            <a:ext cx="989087" cy="304800"/>
          </a:xfrm>
          <a:prstGeom prst="rect">
            <a:avLst/>
          </a:prstGeom>
          <a:noFill/>
          <a:ln/>
        </p:spPr>
        <p:txBody>
          <a:bodyPr wrap="none" lIns="0" tIns="0" rIns="0" bIns="0" rtlCol="0" anchor="t"/>
          <a:lstStyle/>
          <a:p>
            <a:pPr marL="0" indent="0" algn="l">
              <a:lnSpc>
                <a:spcPct val="83000"/>
              </a:lnSpc>
              <a:buNone/>
            </a:pPr>
            <a:r>
              <a:rPr lang="en-US" sz="2400" dirty="0">
                <a:solidFill>
                  <a:srgbClr val="17141F"/>
                </a:solidFill>
                <a:latin typeface="Poppins SemiBold" pitchFamily="34" charset="0"/>
                <a:ea typeface="Poppins SemiBold" pitchFamily="34" charset="-122"/>
                <a:cs typeface="Poppins SemiBold" pitchFamily="34" charset="-120"/>
              </a:rPr>
              <a:t>03</a:t>
            </a:r>
            <a:endParaRPr lang="en-US" sz="2400" dirty="0"/>
          </a:p>
        </p:txBody>
      </p:sp>
      <p:sp>
        <p:nvSpPr>
          <p:cNvPr id="14" name="Shape 12"/>
          <p:cNvSpPr/>
          <p:nvPr/>
        </p:nvSpPr>
        <p:spPr>
          <a:xfrm>
            <a:off x="8144663" y="3527822"/>
            <a:ext cx="3488146" cy="19050"/>
          </a:xfrm>
          <a:prstGeom prst="rect">
            <a:avLst/>
          </a:prstGeom>
          <a:solidFill>
            <a:srgbClr val="FF7A1A"/>
          </a:solidFill>
          <a:ln/>
        </p:spPr>
      </p:sp>
      <p:sp>
        <p:nvSpPr>
          <p:cNvPr id="15" name="Text 13"/>
          <p:cNvSpPr/>
          <p:nvPr/>
        </p:nvSpPr>
        <p:spPr>
          <a:xfrm>
            <a:off x="8144663" y="3729732"/>
            <a:ext cx="3488246" cy="462260"/>
          </a:xfrm>
          <a:prstGeom prst="rect">
            <a:avLst/>
          </a:prstGeom>
          <a:noFill/>
          <a:ln/>
        </p:spPr>
        <p:txBody>
          <a:bodyPr wrap="none" lIns="0" tIns="0" rIns="0" bIns="0" rtlCol="0" anchor="t"/>
          <a:lstStyle/>
          <a:p>
            <a:pPr marL="0" indent="0" algn="l">
              <a:lnSpc>
                <a:spcPct val="108000"/>
              </a:lnSpc>
              <a:buNone/>
            </a:pPr>
            <a:r>
              <a:rPr lang="en-US" sz="2800" dirty="0">
                <a:solidFill>
                  <a:srgbClr val="17141F"/>
                </a:solidFill>
                <a:latin typeface="Poppins Medium" pitchFamily="34" charset="0"/>
                <a:ea typeface="Poppins Medium" pitchFamily="34" charset="-122"/>
                <a:cs typeface="Poppins Medium" pitchFamily="34" charset="-120"/>
              </a:rPr>
              <a:t>Bill</a:t>
            </a:r>
            <a:endParaRPr lang="en-US" sz="2800" dirty="0"/>
          </a:p>
        </p:txBody>
      </p:sp>
      <p:sp>
        <p:nvSpPr>
          <p:cNvPr id="16" name="Text 14"/>
          <p:cNvSpPr/>
          <p:nvPr/>
        </p:nvSpPr>
        <p:spPr>
          <a:xfrm>
            <a:off x="8144663" y="4363442"/>
            <a:ext cx="3488246" cy="1206996"/>
          </a:xfrm>
          <a:prstGeom prst="rect">
            <a:avLst/>
          </a:prstGeom>
          <a:noFill/>
          <a:ln/>
        </p:spPr>
        <p:txBody>
          <a:bodyPr wrap="square" lIns="0" tIns="0" rIns="0" bIns="0" rtlCol="0" anchor="t">
            <a:normAutofit/>
          </a:bodyPr>
          <a:lstStyle/>
          <a:p>
            <a:pPr marL="0" indent="0" algn="l">
              <a:lnSpc>
                <a:spcPct val="110000"/>
              </a:lnSpc>
              <a:buNone/>
            </a:pPr>
            <a:r>
              <a:rPr lang="en-US" sz="2400" dirty="0">
                <a:solidFill>
                  <a:srgbClr val="17141F"/>
                </a:solidFill>
                <a:latin typeface="Poppins" pitchFamily="34" charset="0"/>
                <a:ea typeface="Poppins" pitchFamily="34" charset="-122"/>
                <a:cs typeface="Poppins" pitchFamily="34" charset="-120"/>
              </a:rPr>
              <a:t>Generate a reliable bill after preparation and service.</a:t>
            </a:r>
            <a:endParaRPr lang="en-US" sz="2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58786" y="558800"/>
            <a:ext cx="11632909" cy="197842"/>
          </a:xfrm>
          <a:prstGeom prst="rect">
            <a:avLst/>
          </a:prstGeom>
          <a:noFill/>
          <a:ln/>
        </p:spPr>
        <p:txBody>
          <a:bodyPr wrap="none" lIns="0" tIns="0" rIns="0" bIns="0" rtlCol="0" anchor="t"/>
          <a:lstStyle/>
          <a:p>
            <a:pPr marL="0" indent="0" algn="l">
              <a:lnSpc>
                <a:spcPct val="100000"/>
              </a:lnSpc>
              <a:buNone/>
            </a:pPr>
            <a:r>
              <a:rPr lang="en-US" sz="1300" kern="0" spc="13" dirty="0">
                <a:solidFill>
                  <a:srgbClr val="17141F"/>
                </a:solidFill>
                <a:latin typeface="Poppins SemiBold" pitchFamily="34" charset="0"/>
                <a:ea typeface="Poppins SemiBold" pitchFamily="34" charset="-122"/>
                <a:cs typeface="Poppins SemiBold" pitchFamily="34" charset="-120"/>
              </a:rPr>
              <a:t>INTRODUCTION</a:t>
            </a:r>
            <a:endParaRPr lang="en-US" sz="1300" dirty="0"/>
          </a:p>
        </p:txBody>
      </p:sp>
      <p:sp>
        <p:nvSpPr>
          <p:cNvPr id="3" name="Text 1"/>
          <p:cNvSpPr/>
          <p:nvPr/>
        </p:nvSpPr>
        <p:spPr>
          <a:xfrm>
            <a:off x="558786" y="819348"/>
            <a:ext cx="11074123" cy="445195"/>
          </a:xfrm>
          <a:prstGeom prst="rect">
            <a:avLst/>
          </a:prstGeom>
          <a:noFill/>
          <a:ln/>
        </p:spPr>
        <p:txBody>
          <a:bodyPr wrap="none" lIns="0" tIns="0" rIns="0" bIns="0" rtlCol="0" anchor="t"/>
          <a:lstStyle/>
          <a:p>
            <a:pPr marL="0" indent="0" algn="l">
              <a:lnSpc>
                <a:spcPct val="90000"/>
              </a:lnSpc>
              <a:buNone/>
            </a:pPr>
            <a:r>
              <a:rPr lang="en-US" sz="3250" kern="0" spc="-32" dirty="0">
                <a:solidFill>
                  <a:srgbClr val="17141F"/>
                </a:solidFill>
                <a:latin typeface="Gabarito ExtraBold" pitchFamily="34" charset="0"/>
                <a:ea typeface="Gabarito ExtraBold" pitchFamily="34" charset="-122"/>
                <a:cs typeface="Gabarito ExtraBold" pitchFamily="34" charset="-120"/>
              </a:rPr>
              <a:t>What the Restaurant System Manages</a:t>
            </a:r>
            <a:endParaRPr lang="en-US" sz="3250" dirty="0"/>
          </a:p>
        </p:txBody>
      </p:sp>
      <p:sp>
        <p:nvSpPr>
          <p:cNvPr id="4" name="Text 2"/>
          <p:cNvSpPr/>
          <p:nvPr/>
        </p:nvSpPr>
        <p:spPr>
          <a:xfrm>
            <a:off x="558786" y="1419225"/>
            <a:ext cx="11074123" cy="591344"/>
          </a:xfrm>
          <a:prstGeom prst="rect">
            <a:avLst/>
          </a:prstGeom>
          <a:noFill/>
          <a:ln/>
        </p:spPr>
        <p:txBody>
          <a:bodyPr wrap="square" lIns="0" tIns="0" rIns="0" bIns="0" rtlCol="0" anchor="t">
            <a:normAutofit/>
          </a:bodyPr>
          <a:lstStyle/>
          <a:p>
            <a:pPr marL="0" indent="0" algn="l">
              <a:lnSpc>
                <a:spcPct val="100000"/>
              </a:lnSpc>
              <a:buNone/>
            </a:pPr>
            <a:r>
              <a:rPr lang="en-US" sz="1950" dirty="0">
                <a:solidFill>
                  <a:srgbClr val="17141F"/>
                </a:solidFill>
                <a:latin typeface="Poppins" pitchFamily="34" charset="0"/>
                <a:ea typeface="Poppins" pitchFamily="34" charset="-122"/>
                <a:cs typeface="Poppins" pitchFamily="34" charset="-120"/>
              </a:rPr>
              <a:t>The system connects menu data, customer orders, kitchen work, and billing in one clear flow.</a:t>
            </a:r>
            <a:endParaRPr lang="en-US" sz="1950" dirty="0"/>
          </a:p>
        </p:txBody>
      </p:sp>
      <p:sp>
        <p:nvSpPr>
          <p:cNvPr id="5" name="Shape 3"/>
          <p:cNvSpPr/>
          <p:nvPr/>
        </p:nvSpPr>
        <p:spPr>
          <a:xfrm>
            <a:off x="558786" y="2150566"/>
            <a:ext cx="3488146" cy="4691559"/>
          </a:xfrm>
          <a:prstGeom prst="roundRect">
            <a:avLst>
              <a:gd name="adj" fmla="val 6382"/>
            </a:avLst>
          </a:prstGeom>
          <a:solidFill>
            <a:srgbClr val="FFE1CC"/>
          </a:solidFill>
          <a:ln/>
        </p:spPr>
      </p:sp>
      <p:sp>
        <p:nvSpPr>
          <p:cNvPr id="6" name="Text 4"/>
          <p:cNvSpPr/>
          <p:nvPr/>
        </p:nvSpPr>
        <p:spPr>
          <a:xfrm>
            <a:off x="787380" y="2379166"/>
            <a:ext cx="3030958" cy="750094"/>
          </a:xfrm>
          <a:prstGeom prst="rect">
            <a:avLst/>
          </a:prstGeom>
          <a:noFill/>
          <a:ln/>
        </p:spPr>
        <p:txBody>
          <a:bodyPr wrap="square" lIns="0" tIns="0" rIns="0" bIns="0" rtlCol="0" anchor="t">
            <a:normAutofit/>
          </a:bodyPr>
          <a:lstStyle/>
          <a:p>
            <a:pPr marL="0" indent="0" algn="l">
              <a:lnSpc>
                <a:spcPct val="108000"/>
              </a:lnSpc>
              <a:buNone/>
            </a:pPr>
            <a:r>
              <a:rPr lang="en-US" sz="2250" dirty="0">
                <a:solidFill>
                  <a:srgbClr val="17141F"/>
                </a:solidFill>
                <a:latin typeface="Poppins Medium" pitchFamily="34" charset="0"/>
                <a:ea typeface="Poppins Medium" pitchFamily="34" charset="-122"/>
                <a:cs typeface="Poppins Medium" pitchFamily="34" charset="-120"/>
              </a:rPr>
              <a:t>What the system manages</a:t>
            </a:r>
            <a:endParaRPr lang="en-US" sz="2250" dirty="0"/>
          </a:p>
        </p:txBody>
      </p:sp>
      <p:sp>
        <p:nvSpPr>
          <p:cNvPr id="7" name="Text 5"/>
          <p:cNvSpPr/>
          <p:nvPr/>
        </p:nvSpPr>
        <p:spPr>
          <a:xfrm>
            <a:off x="787380" y="3242072"/>
            <a:ext cx="3030958" cy="1301750"/>
          </a:xfrm>
          <a:prstGeom prst="rect">
            <a:avLst/>
          </a:prstGeom>
          <a:noFill/>
          <a:ln/>
        </p:spPr>
        <p:txBody>
          <a:bodyPr wrap="square" lIns="0" tIns="0" rIns="0" bIns="0" rtlCol="0" anchor="t">
            <a:normAutofit/>
          </a:bodyPr>
          <a:lstStyle/>
          <a:p>
            <a:pPr marL="396240" indent="-396240" algn="l">
              <a:lnSpc>
                <a:spcPct val="100000"/>
              </a:lnSpc>
              <a:buSzPct val="100000"/>
              <a:buChar char="•"/>
            </a:pPr>
            <a:r>
              <a:rPr lang="en-US" sz="1950" dirty="0">
                <a:solidFill>
                  <a:srgbClr val="17141F"/>
                </a:solidFill>
                <a:latin typeface="Poppins" pitchFamily="34" charset="0"/>
                <a:ea typeface="Poppins" pitchFamily="34" charset="-122"/>
                <a:cs typeface="Poppins" pitchFamily="34" charset="-120"/>
              </a:rPr>
              <a:t>Menu items</a:t>
            </a:r>
            <a:endParaRPr lang="en-US" sz="1950" dirty="0"/>
          </a:p>
          <a:p>
            <a:pPr marL="396240" indent="-396240" algn="l">
              <a:lnSpc>
                <a:spcPct val="100000"/>
              </a:lnSpc>
              <a:buSzPct val="100000"/>
              <a:buChar char="•"/>
            </a:pPr>
            <a:r>
              <a:rPr lang="en-US" sz="1950" dirty="0">
                <a:solidFill>
                  <a:srgbClr val="17141F"/>
                </a:solidFill>
                <a:latin typeface="Poppins" pitchFamily="34" charset="0"/>
                <a:ea typeface="Poppins" pitchFamily="34" charset="-122"/>
                <a:cs typeface="Poppins" pitchFamily="34" charset="-120"/>
              </a:rPr>
              <a:t>Customer orders</a:t>
            </a:r>
            <a:endParaRPr lang="en-US" sz="1950" dirty="0"/>
          </a:p>
          <a:p>
            <a:pPr marL="396240" indent="-396240" algn="l">
              <a:lnSpc>
                <a:spcPct val="100000"/>
              </a:lnSpc>
              <a:buSzPct val="100000"/>
              <a:buChar char="•"/>
            </a:pPr>
            <a:r>
              <a:rPr lang="en-US" sz="1950" dirty="0">
                <a:solidFill>
                  <a:srgbClr val="17141F"/>
                </a:solidFill>
                <a:latin typeface="Poppins" pitchFamily="34" charset="0"/>
                <a:ea typeface="Poppins" pitchFamily="34" charset="-122"/>
                <a:cs typeface="Poppins" pitchFamily="34" charset="-120"/>
              </a:rPr>
              <a:t>Kitchen status</a:t>
            </a:r>
            <a:endParaRPr lang="en-US" sz="1950" dirty="0"/>
          </a:p>
          <a:p>
            <a:pPr marL="396240" indent="-396240" algn="l">
              <a:lnSpc>
                <a:spcPct val="100000"/>
              </a:lnSpc>
              <a:buSzPct val="100000"/>
              <a:buChar char="•"/>
            </a:pPr>
            <a:r>
              <a:rPr lang="en-US" sz="1950" dirty="0">
                <a:solidFill>
                  <a:srgbClr val="17141F"/>
                </a:solidFill>
                <a:latin typeface="Poppins" pitchFamily="34" charset="0"/>
                <a:ea typeface="Poppins" pitchFamily="34" charset="-122"/>
                <a:cs typeface="Poppins" pitchFamily="34" charset="-120"/>
              </a:rPr>
              <a:t>Bills</a:t>
            </a:r>
            <a:endParaRPr lang="en-US" sz="1950" dirty="0"/>
          </a:p>
        </p:txBody>
      </p:sp>
      <p:sp>
        <p:nvSpPr>
          <p:cNvPr id="8" name="Shape 6"/>
          <p:cNvSpPr/>
          <p:nvPr/>
        </p:nvSpPr>
        <p:spPr>
          <a:xfrm>
            <a:off x="4351725" y="2150566"/>
            <a:ext cx="3488146" cy="4691559"/>
          </a:xfrm>
          <a:prstGeom prst="roundRect">
            <a:avLst>
              <a:gd name="adj" fmla="val 6382"/>
            </a:avLst>
          </a:prstGeom>
          <a:solidFill>
            <a:srgbClr val="FFE1CC"/>
          </a:solidFill>
          <a:ln/>
        </p:spPr>
      </p:sp>
      <p:sp>
        <p:nvSpPr>
          <p:cNvPr id="9" name="Text 7"/>
          <p:cNvSpPr/>
          <p:nvPr/>
        </p:nvSpPr>
        <p:spPr>
          <a:xfrm>
            <a:off x="4580319" y="2379166"/>
            <a:ext cx="3030958" cy="375047"/>
          </a:xfrm>
          <a:prstGeom prst="rect">
            <a:avLst/>
          </a:prstGeom>
          <a:noFill/>
          <a:ln/>
        </p:spPr>
        <p:txBody>
          <a:bodyPr wrap="none" lIns="0" tIns="0" rIns="0" bIns="0" rtlCol="0" anchor="t"/>
          <a:lstStyle/>
          <a:p>
            <a:pPr marL="0" indent="0" algn="l">
              <a:lnSpc>
                <a:spcPct val="108000"/>
              </a:lnSpc>
              <a:buNone/>
            </a:pPr>
            <a:r>
              <a:rPr lang="en-US" sz="2250" dirty="0">
                <a:solidFill>
                  <a:srgbClr val="17141F"/>
                </a:solidFill>
                <a:latin typeface="Poppins Medium" pitchFamily="34" charset="0"/>
                <a:ea typeface="Poppins Medium" pitchFamily="34" charset="-122"/>
                <a:cs typeface="Poppins Medium" pitchFamily="34" charset="-120"/>
              </a:rPr>
              <a:t>Main modules</a:t>
            </a:r>
            <a:endParaRPr lang="en-US" sz="2250" dirty="0"/>
          </a:p>
        </p:txBody>
      </p:sp>
      <p:sp>
        <p:nvSpPr>
          <p:cNvPr id="10" name="Text 8"/>
          <p:cNvSpPr/>
          <p:nvPr/>
        </p:nvSpPr>
        <p:spPr>
          <a:xfrm>
            <a:off x="4580319" y="2867025"/>
            <a:ext cx="3030958" cy="966391"/>
          </a:xfrm>
          <a:prstGeom prst="rect">
            <a:avLst/>
          </a:prstGeom>
          <a:noFill/>
          <a:ln/>
        </p:spPr>
        <p:txBody>
          <a:bodyPr wrap="square" lIns="0" tIns="0" rIns="0" bIns="0" rtlCol="0" anchor="t">
            <a:normAutofit/>
          </a:bodyPr>
          <a:lstStyle/>
          <a:p>
            <a:pPr marL="396240" indent="-396240" algn="l">
              <a:lnSpc>
                <a:spcPct val="100000"/>
              </a:lnSpc>
              <a:buSzPct val="100000"/>
              <a:buChar char="•"/>
            </a:pPr>
            <a:r>
              <a:rPr lang="en-US" sz="1950" dirty="0">
                <a:solidFill>
                  <a:srgbClr val="17141F"/>
                </a:solidFill>
                <a:latin typeface="Poppins" pitchFamily="34" charset="0"/>
                <a:ea typeface="Poppins" pitchFamily="34" charset="-122"/>
                <a:cs typeface="Poppins" pitchFamily="34" charset="-120"/>
              </a:rPr>
              <a:t>Order module</a:t>
            </a:r>
            <a:endParaRPr lang="en-US" sz="1950" dirty="0"/>
          </a:p>
          <a:p>
            <a:pPr marL="396240" indent="-396240" algn="l">
              <a:lnSpc>
                <a:spcPct val="100000"/>
              </a:lnSpc>
              <a:buSzPct val="100000"/>
              <a:buChar char="•"/>
            </a:pPr>
            <a:r>
              <a:rPr lang="en-US" sz="1950" dirty="0">
                <a:solidFill>
                  <a:srgbClr val="17141F"/>
                </a:solidFill>
                <a:latin typeface="Poppins" pitchFamily="34" charset="0"/>
                <a:ea typeface="Poppins" pitchFamily="34" charset="-122"/>
                <a:cs typeface="Poppins" pitchFamily="34" charset="-120"/>
              </a:rPr>
              <a:t>Kitchen module</a:t>
            </a:r>
            <a:endParaRPr lang="en-US" sz="1950" dirty="0"/>
          </a:p>
          <a:p>
            <a:pPr marL="396240" indent="-396240" algn="l">
              <a:lnSpc>
                <a:spcPct val="100000"/>
              </a:lnSpc>
              <a:buSzPct val="100000"/>
              <a:buChar char="•"/>
            </a:pPr>
            <a:r>
              <a:rPr lang="en-US" sz="1950" dirty="0">
                <a:solidFill>
                  <a:srgbClr val="17141F"/>
                </a:solidFill>
                <a:latin typeface="Poppins" pitchFamily="34" charset="0"/>
                <a:ea typeface="Poppins" pitchFamily="34" charset="-122"/>
                <a:cs typeface="Poppins" pitchFamily="34" charset="-120"/>
              </a:rPr>
              <a:t>Billing module</a:t>
            </a:r>
            <a:endParaRPr lang="en-US" sz="1950" dirty="0"/>
          </a:p>
        </p:txBody>
      </p:sp>
      <p:sp>
        <p:nvSpPr>
          <p:cNvPr id="11" name="Shape 9"/>
          <p:cNvSpPr/>
          <p:nvPr/>
        </p:nvSpPr>
        <p:spPr>
          <a:xfrm>
            <a:off x="8144663" y="2150566"/>
            <a:ext cx="3488246" cy="4691559"/>
          </a:xfrm>
          <a:prstGeom prst="roundRect">
            <a:avLst>
              <a:gd name="adj" fmla="val 6382"/>
            </a:avLst>
          </a:prstGeom>
          <a:solidFill>
            <a:srgbClr val="FFE1CC"/>
          </a:solidFill>
          <a:ln/>
        </p:spPr>
      </p:sp>
      <p:sp>
        <p:nvSpPr>
          <p:cNvPr id="12" name="Text 10"/>
          <p:cNvSpPr/>
          <p:nvPr/>
        </p:nvSpPr>
        <p:spPr>
          <a:xfrm>
            <a:off x="8373258" y="2379166"/>
            <a:ext cx="3031057" cy="375047"/>
          </a:xfrm>
          <a:prstGeom prst="rect">
            <a:avLst/>
          </a:prstGeom>
          <a:noFill/>
          <a:ln/>
        </p:spPr>
        <p:txBody>
          <a:bodyPr wrap="none" lIns="0" tIns="0" rIns="0" bIns="0" rtlCol="0" anchor="t"/>
          <a:lstStyle/>
          <a:p>
            <a:pPr marL="0" indent="0" algn="l">
              <a:lnSpc>
                <a:spcPct val="108000"/>
              </a:lnSpc>
              <a:buNone/>
            </a:pPr>
            <a:r>
              <a:rPr lang="en-US" sz="2250" dirty="0">
                <a:solidFill>
                  <a:srgbClr val="17141F"/>
                </a:solidFill>
                <a:latin typeface="Poppins Medium" pitchFamily="34" charset="0"/>
                <a:ea typeface="Poppins Medium" pitchFamily="34" charset="-122"/>
                <a:cs typeface="Poppins Medium" pitchFamily="34" charset="-120"/>
              </a:rPr>
              <a:t>Java concepts used</a:t>
            </a:r>
            <a:endParaRPr lang="en-US" sz="2250" dirty="0"/>
          </a:p>
        </p:txBody>
      </p:sp>
      <p:sp>
        <p:nvSpPr>
          <p:cNvPr id="13" name="Text 11"/>
          <p:cNvSpPr/>
          <p:nvPr/>
        </p:nvSpPr>
        <p:spPr>
          <a:xfrm>
            <a:off x="8373258" y="2867025"/>
            <a:ext cx="3031057" cy="3746500"/>
          </a:xfrm>
          <a:prstGeom prst="rect">
            <a:avLst/>
          </a:prstGeom>
          <a:noFill/>
          <a:ln/>
        </p:spPr>
        <p:txBody>
          <a:bodyPr wrap="square" lIns="0" tIns="0" rIns="0" bIns="0" rtlCol="0" anchor="t">
            <a:normAutofit/>
          </a:bodyPr>
          <a:lstStyle/>
          <a:p>
            <a:pPr marL="396240" indent="-396240" algn="l">
              <a:lnSpc>
                <a:spcPct val="100000"/>
              </a:lnSpc>
              <a:buSzPct val="100000"/>
              <a:buChar char="•"/>
            </a:pPr>
            <a:r>
              <a:rPr lang="en-US" sz="1950" dirty="0">
                <a:solidFill>
                  <a:srgbClr val="17141F"/>
                </a:solidFill>
                <a:latin typeface="Poppins" pitchFamily="34" charset="0"/>
                <a:ea typeface="Poppins" pitchFamily="34" charset="-122"/>
                <a:cs typeface="Poppins" pitchFamily="34" charset="-120"/>
              </a:rPr>
              <a:t>Scanner gets user input</a:t>
            </a:r>
            <a:endParaRPr lang="en-US" sz="1950" dirty="0"/>
          </a:p>
          <a:p>
            <a:pPr marL="396240" indent="-396240" algn="l">
              <a:lnSpc>
                <a:spcPct val="100000"/>
              </a:lnSpc>
              <a:buSzPct val="100000"/>
              <a:buChar char="•"/>
            </a:pPr>
            <a:r>
              <a:rPr lang="en-US" sz="1950" dirty="0">
                <a:solidFill>
                  <a:srgbClr val="17141F"/>
                </a:solidFill>
                <a:latin typeface="Poppins" pitchFamily="34" charset="0"/>
                <a:ea typeface="Poppins" pitchFamily="34" charset="-122"/>
                <a:cs typeface="Poppins" pitchFamily="34" charset="-120"/>
              </a:rPr>
              <a:t>Arrays store menu data</a:t>
            </a:r>
            <a:endParaRPr lang="en-US" sz="1950" dirty="0"/>
          </a:p>
          <a:p>
            <a:pPr marL="396240" indent="-396240" algn="l">
              <a:lnSpc>
                <a:spcPct val="100000"/>
              </a:lnSpc>
              <a:buSzPct val="100000"/>
              <a:buChar char="•"/>
            </a:pPr>
            <a:r>
              <a:rPr lang="en-US" sz="1950" dirty="0">
                <a:solidFill>
                  <a:srgbClr val="17141F"/>
                </a:solidFill>
                <a:latin typeface="Poppins" pitchFamily="34" charset="0"/>
                <a:ea typeface="Poppins" pitchFamily="34" charset="-122"/>
                <a:cs typeface="Poppins" pitchFamily="34" charset="-120"/>
              </a:rPr>
              <a:t>Methods organize each module</a:t>
            </a:r>
            <a:endParaRPr lang="en-US" sz="1950" dirty="0"/>
          </a:p>
          <a:p>
            <a:pPr marL="396240" indent="-396240" algn="l">
              <a:lnSpc>
                <a:spcPct val="100000"/>
              </a:lnSpc>
              <a:buSzPct val="100000"/>
              <a:buChar char="•"/>
            </a:pPr>
            <a:r>
              <a:rPr lang="en-US" sz="1950" dirty="0">
                <a:solidFill>
                  <a:srgbClr val="17141F"/>
                </a:solidFill>
                <a:latin typeface="Poppins" pitchFamily="34" charset="0"/>
                <a:ea typeface="Poppins" pitchFamily="34" charset="-122"/>
                <a:cs typeface="Poppins" pitchFamily="34" charset="-120"/>
              </a:rPr>
              <a:t>Loops and conditions guide decisions</a:t>
            </a:r>
            <a:endParaRPr lang="en-US" sz="1950" dirty="0"/>
          </a:p>
          <a:p>
            <a:pPr marL="396240" indent="-396240" algn="l">
              <a:lnSpc>
                <a:spcPct val="100000"/>
              </a:lnSpc>
              <a:buSzPct val="100000"/>
              <a:buChar char="•"/>
            </a:pPr>
            <a:r>
              <a:rPr lang="en-US" sz="1950" dirty="0">
                <a:solidFill>
                  <a:srgbClr val="17141F"/>
                </a:solidFill>
                <a:latin typeface="Poppins" pitchFamily="34" charset="0"/>
                <a:ea typeface="Poppins" pitchFamily="34" charset="-122"/>
                <a:cs typeface="Poppins" pitchFamily="34" charset="-120"/>
              </a:rPr>
              <a:t>Operators handle calculations</a:t>
            </a:r>
            <a:endParaRPr lang="en-US" sz="1950" dirty="0"/>
          </a:p>
          <a:p>
            <a:pPr marL="396240" indent="-396240" algn="l">
              <a:lnSpc>
                <a:spcPct val="100000"/>
              </a:lnSpc>
              <a:buSzPct val="100000"/>
              <a:buChar char="•"/>
            </a:pPr>
            <a:r>
              <a:rPr lang="en-US" sz="1950" dirty="0">
                <a:solidFill>
                  <a:srgbClr val="17141F"/>
                </a:solidFill>
                <a:latin typeface="Poppins" pitchFamily="34" charset="0"/>
                <a:ea typeface="Poppins" pitchFamily="34" charset="-122"/>
                <a:cs typeface="Poppins" pitchFamily="34" charset="-120"/>
              </a:rPr>
              <a:t>Switch selects menu choices</a:t>
            </a:r>
            <a:endParaRPr lang="en-US" sz="1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58786" y="558800"/>
            <a:ext cx="11632909" cy="243780"/>
          </a:xfrm>
          <a:prstGeom prst="rect">
            <a:avLst/>
          </a:prstGeom>
          <a:noFill/>
          <a:ln/>
        </p:spPr>
        <p:txBody>
          <a:bodyPr wrap="none" lIns="0" tIns="0" rIns="0" bIns="0" rtlCol="0" anchor="t"/>
          <a:lstStyle/>
          <a:p>
            <a:pPr marL="0" indent="0" algn="l">
              <a:lnSpc>
                <a:spcPct val="100000"/>
              </a:lnSpc>
              <a:buNone/>
            </a:pPr>
            <a:r>
              <a:rPr lang="en-US" sz="1600" kern="0" spc="16" dirty="0">
                <a:solidFill>
                  <a:srgbClr val="5A5163"/>
                </a:solidFill>
                <a:latin typeface="Poppins SemiBold" pitchFamily="34" charset="0"/>
                <a:ea typeface="Poppins SemiBold" pitchFamily="34" charset="-122"/>
                <a:cs typeface="Poppins SemiBold" pitchFamily="34" charset="-120"/>
              </a:rPr>
              <a:t>EXISTING PROCESS</a:t>
            </a:r>
            <a:endParaRPr lang="en-US" sz="1600" dirty="0"/>
          </a:p>
        </p:txBody>
      </p:sp>
      <p:sp>
        <p:nvSpPr>
          <p:cNvPr id="3" name="Text 1"/>
          <p:cNvSpPr/>
          <p:nvPr/>
        </p:nvSpPr>
        <p:spPr>
          <a:xfrm>
            <a:off x="558786" y="897830"/>
            <a:ext cx="11074123" cy="548580"/>
          </a:xfrm>
          <a:prstGeom prst="rect">
            <a:avLst/>
          </a:prstGeom>
          <a:noFill/>
          <a:ln/>
        </p:spPr>
        <p:txBody>
          <a:bodyPr wrap="none" lIns="0" tIns="0" rIns="0" bIns="0" rtlCol="0" anchor="t"/>
          <a:lstStyle/>
          <a:p>
            <a:pPr marL="0" indent="0" algn="l">
              <a:lnSpc>
                <a:spcPct val="90000"/>
              </a:lnSpc>
              <a:buNone/>
            </a:pPr>
            <a:r>
              <a:rPr lang="en-US" sz="4000" kern="0" spc="-40" dirty="0">
                <a:solidFill>
                  <a:srgbClr val="17141F"/>
                </a:solidFill>
                <a:latin typeface="Gabarito ExtraBold" pitchFamily="34" charset="0"/>
                <a:ea typeface="Gabarito ExtraBold" pitchFamily="34" charset="-122"/>
                <a:cs typeface="Gabarito ExtraBold" pitchFamily="34" charset="-120"/>
              </a:rPr>
              <a:t>The existing process is slow and error-prone</a:t>
            </a:r>
            <a:endParaRPr lang="en-US" sz="4000" dirty="0"/>
          </a:p>
        </p:txBody>
      </p:sp>
      <p:sp>
        <p:nvSpPr>
          <p:cNvPr id="4" name="Shape 2"/>
          <p:cNvSpPr/>
          <p:nvPr/>
        </p:nvSpPr>
        <p:spPr>
          <a:xfrm>
            <a:off x="558786" y="1681361"/>
            <a:ext cx="3488146" cy="4617839"/>
          </a:xfrm>
          <a:prstGeom prst="roundRect">
            <a:avLst>
              <a:gd name="adj" fmla="val 7864"/>
            </a:avLst>
          </a:prstGeom>
          <a:solidFill>
            <a:srgbClr val="FFE1CC"/>
          </a:solidFill>
          <a:ln/>
        </p:spPr>
      </p:sp>
      <p:sp>
        <p:nvSpPr>
          <p:cNvPr id="5" name="Text 3"/>
          <p:cNvSpPr/>
          <p:nvPr/>
        </p:nvSpPr>
        <p:spPr>
          <a:xfrm>
            <a:off x="787380" y="1909961"/>
            <a:ext cx="3259552" cy="243780"/>
          </a:xfrm>
          <a:prstGeom prst="rect">
            <a:avLst/>
          </a:prstGeom>
          <a:noFill/>
          <a:ln/>
        </p:spPr>
        <p:txBody>
          <a:bodyPr wrap="none" lIns="0" tIns="0" rIns="0" bIns="0" rtlCol="0" anchor="t"/>
          <a:lstStyle/>
          <a:p>
            <a:pPr marL="0" indent="0" algn="l">
              <a:lnSpc>
                <a:spcPct val="100000"/>
              </a:lnSpc>
              <a:buNone/>
            </a:pPr>
            <a:r>
              <a:rPr lang="en-US" sz="1600" kern="0" spc="16" dirty="0">
                <a:solidFill>
                  <a:srgbClr val="5A5163"/>
                </a:solidFill>
                <a:latin typeface="Poppins SemiBold" pitchFamily="34" charset="0"/>
                <a:ea typeface="Poppins SemiBold" pitchFamily="34" charset="-122"/>
                <a:cs typeface="Poppins SemiBold" pitchFamily="34" charset="-120"/>
              </a:rPr>
              <a:t>ORDER ENTRY</a:t>
            </a:r>
            <a:endParaRPr lang="en-US" sz="1600" dirty="0"/>
          </a:p>
        </p:txBody>
      </p:sp>
      <p:sp>
        <p:nvSpPr>
          <p:cNvPr id="6" name="Text 4"/>
          <p:cNvSpPr/>
          <p:nvPr/>
        </p:nvSpPr>
        <p:spPr>
          <a:xfrm>
            <a:off x="787380" y="2248991"/>
            <a:ext cx="3030958" cy="924520"/>
          </a:xfrm>
          <a:prstGeom prst="rect">
            <a:avLst/>
          </a:prstGeom>
          <a:noFill/>
          <a:ln/>
        </p:spPr>
        <p:txBody>
          <a:bodyPr wrap="square" lIns="0" tIns="0" rIns="0" bIns="0" rtlCol="0" anchor="t">
            <a:normAutofit/>
          </a:bodyPr>
          <a:lstStyle/>
          <a:p>
            <a:pPr marL="0" indent="0" algn="l">
              <a:lnSpc>
                <a:spcPct val="108000"/>
              </a:lnSpc>
              <a:buNone/>
            </a:pPr>
            <a:r>
              <a:rPr lang="en-US" sz="2800" dirty="0">
                <a:solidFill>
                  <a:srgbClr val="17141F"/>
                </a:solidFill>
                <a:latin typeface="Poppins Medium" pitchFamily="34" charset="0"/>
                <a:ea typeface="Poppins Medium" pitchFamily="34" charset="-122"/>
                <a:cs typeface="Poppins Medium" pitchFamily="34" charset="-120"/>
              </a:rPr>
              <a:t>Manual or verbal</a:t>
            </a:r>
            <a:endParaRPr lang="en-US" sz="2800" dirty="0"/>
          </a:p>
        </p:txBody>
      </p:sp>
      <p:sp>
        <p:nvSpPr>
          <p:cNvPr id="7" name="Text 5"/>
          <p:cNvSpPr/>
          <p:nvPr/>
        </p:nvSpPr>
        <p:spPr>
          <a:xfrm>
            <a:off x="787380" y="3344962"/>
            <a:ext cx="3030958" cy="2011660"/>
          </a:xfrm>
          <a:prstGeom prst="rect">
            <a:avLst/>
          </a:prstGeom>
          <a:noFill/>
          <a:ln/>
        </p:spPr>
        <p:txBody>
          <a:bodyPr wrap="square" lIns="0" tIns="0" rIns="0" bIns="0" rtlCol="0" anchor="t">
            <a:normAutofit/>
          </a:bodyPr>
          <a:lstStyle/>
          <a:p>
            <a:pPr marL="0" indent="0" algn="l">
              <a:lnSpc>
                <a:spcPct val="110000"/>
              </a:lnSpc>
              <a:buNone/>
            </a:pPr>
            <a:r>
              <a:rPr lang="en-US" sz="2400" dirty="0">
                <a:solidFill>
                  <a:srgbClr val="17141F"/>
                </a:solidFill>
                <a:latin typeface="Poppins" pitchFamily="34" charset="0"/>
                <a:ea typeface="Poppins" pitchFamily="34" charset="-122"/>
                <a:cs typeface="Poppins" pitchFamily="34" charset="-120"/>
              </a:rPr>
              <a:t>Orders may be written manually or communicated verbally, risking missed details.</a:t>
            </a:r>
            <a:endParaRPr lang="en-US" sz="2400" dirty="0"/>
          </a:p>
        </p:txBody>
      </p:sp>
      <p:sp>
        <p:nvSpPr>
          <p:cNvPr id="8" name="Shape 6"/>
          <p:cNvSpPr/>
          <p:nvPr/>
        </p:nvSpPr>
        <p:spPr>
          <a:xfrm>
            <a:off x="4351725" y="1681361"/>
            <a:ext cx="3488146" cy="4617839"/>
          </a:xfrm>
          <a:prstGeom prst="roundRect">
            <a:avLst>
              <a:gd name="adj" fmla="val 7864"/>
            </a:avLst>
          </a:prstGeom>
          <a:solidFill>
            <a:srgbClr val="FFE1CC"/>
          </a:solidFill>
          <a:ln/>
        </p:spPr>
      </p:sp>
      <p:sp>
        <p:nvSpPr>
          <p:cNvPr id="9" name="Text 7"/>
          <p:cNvSpPr/>
          <p:nvPr/>
        </p:nvSpPr>
        <p:spPr>
          <a:xfrm>
            <a:off x="4580319" y="1909961"/>
            <a:ext cx="3259552" cy="243780"/>
          </a:xfrm>
          <a:prstGeom prst="rect">
            <a:avLst/>
          </a:prstGeom>
          <a:noFill/>
          <a:ln/>
        </p:spPr>
        <p:txBody>
          <a:bodyPr wrap="none" lIns="0" tIns="0" rIns="0" bIns="0" rtlCol="0" anchor="t"/>
          <a:lstStyle/>
          <a:p>
            <a:pPr marL="0" indent="0" algn="l">
              <a:lnSpc>
                <a:spcPct val="100000"/>
              </a:lnSpc>
              <a:buNone/>
            </a:pPr>
            <a:r>
              <a:rPr lang="en-US" sz="1600" kern="0" spc="16" dirty="0">
                <a:solidFill>
                  <a:srgbClr val="5A5163"/>
                </a:solidFill>
                <a:latin typeface="Poppins SemiBold" pitchFamily="34" charset="0"/>
                <a:ea typeface="Poppins SemiBold" pitchFamily="34" charset="-122"/>
                <a:cs typeface="Poppins SemiBold" pitchFamily="34" charset="-120"/>
              </a:rPr>
              <a:t>KITCHEN HANDOFF</a:t>
            </a:r>
            <a:endParaRPr lang="en-US" sz="1600" dirty="0"/>
          </a:p>
        </p:txBody>
      </p:sp>
      <p:sp>
        <p:nvSpPr>
          <p:cNvPr id="10" name="Text 8"/>
          <p:cNvSpPr/>
          <p:nvPr/>
        </p:nvSpPr>
        <p:spPr>
          <a:xfrm>
            <a:off x="4580319" y="2248991"/>
            <a:ext cx="3030958" cy="924520"/>
          </a:xfrm>
          <a:prstGeom prst="rect">
            <a:avLst/>
          </a:prstGeom>
          <a:noFill/>
          <a:ln/>
        </p:spPr>
        <p:txBody>
          <a:bodyPr wrap="square" lIns="0" tIns="0" rIns="0" bIns="0" rtlCol="0" anchor="t">
            <a:normAutofit/>
          </a:bodyPr>
          <a:lstStyle/>
          <a:p>
            <a:pPr marL="0" indent="0" algn="l">
              <a:lnSpc>
                <a:spcPct val="108000"/>
              </a:lnSpc>
              <a:buNone/>
            </a:pPr>
            <a:r>
              <a:rPr lang="en-US" sz="2800" dirty="0">
                <a:solidFill>
                  <a:srgbClr val="17141F"/>
                </a:solidFill>
                <a:latin typeface="Poppins Medium" pitchFamily="34" charset="0"/>
                <a:ea typeface="Poppins Medium" pitchFamily="34" charset="-122"/>
                <a:cs typeface="Poppins Medium" pitchFamily="34" charset="-120"/>
              </a:rPr>
              <a:t>Updates can be missed</a:t>
            </a:r>
            <a:endParaRPr lang="en-US" sz="2800" dirty="0"/>
          </a:p>
        </p:txBody>
      </p:sp>
      <p:sp>
        <p:nvSpPr>
          <p:cNvPr id="11" name="Text 9"/>
          <p:cNvSpPr/>
          <p:nvPr/>
        </p:nvSpPr>
        <p:spPr>
          <a:xfrm>
            <a:off x="4580319" y="3344962"/>
            <a:ext cx="3030958" cy="1609328"/>
          </a:xfrm>
          <a:prstGeom prst="rect">
            <a:avLst/>
          </a:prstGeom>
          <a:noFill/>
          <a:ln/>
        </p:spPr>
        <p:txBody>
          <a:bodyPr wrap="square" lIns="0" tIns="0" rIns="0" bIns="0" rtlCol="0" anchor="t">
            <a:normAutofit/>
          </a:bodyPr>
          <a:lstStyle/>
          <a:p>
            <a:pPr marL="0" indent="0" algn="l">
              <a:lnSpc>
                <a:spcPct val="110000"/>
              </a:lnSpc>
              <a:buNone/>
            </a:pPr>
            <a:r>
              <a:rPr lang="en-US" sz="2400" dirty="0">
                <a:solidFill>
                  <a:srgbClr val="17141F"/>
                </a:solidFill>
                <a:latin typeface="Poppins" pitchFamily="34" charset="0"/>
                <a:ea typeface="Poppins" pitchFamily="34" charset="-122"/>
                <a:cs typeface="Poppins" pitchFamily="34" charset="-120"/>
              </a:rPr>
              <a:t>Kitchen staff may miss updates or misunderstand item details.</a:t>
            </a:r>
            <a:endParaRPr lang="en-US" sz="2400" dirty="0"/>
          </a:p>
        </p:txBody>
      </p:sp>
      <p:sp>
        <p:nvSpPr>
          <p:cNvPr id="12" name="Shape 10"/>
          <p:cNvSpPr/>
          <p:nvPr/>
        </p:nvSpPr>
        <p:spPr>
          <a:xfrm>
            <a:off x="8144663" y="1681361"/>
            <a:ext cx="3488246" cy="4617839"/>
          </a:xfrm>
          <a:prstGeom prst="roundRect">
            <a:avLst>
              <a:gd name="adj" fmla="val 7864"/>
            </a:avLst>
          </a:prstGeom>
          <a:solidFill>
            <a:srgbClr val="FFE1CC"/>
          </a:solidFill>
          <a:ln/>
        </p:spPr>
      </p:sp>
      <p:sp>
        <p:nvSpPr>
          <p:cNvPr id="13" name="Text 11"/>
          <p:cNvSpPr/>
          <p:nvPr/>
        </p:nvSpPr>
        <p:spPr>
          <a:xfrm>
            <a:off x="8373258" y="1909961"/>
            <a:ext cx="3259651" cy="243780"/>
          </a:xfrm>
          <a:prstGeom prst="rect">
            <a:avLst/>
          </a:prstGeom>
          <a:noFill/>
          <a:ln/>
        </p:spPr>
        <p:txBody>
          <a:bodyPr wrap="none" lIns="0" tIns="0" rIns="0" bIns="0" rtlCol="0" anchor="t"/>
          <a:lstStyle/>
          <a:p>
            <a:pPr marL="0" indent="0" algn="l">
              <a:lnSpc>
                <a:spcPct val="100000"/>
              </a:lnSpc>
              <a:buNone/>
            </a:pPr>
            <a:r>
              <a:rPr lang="en-US" sz="1600" kern="0" spc="16" dirty="0">
                <a:solidFill>
                  <a:srgbClr val="5A5163"/>
                </a:solidFill>
                <a:latin typeface="Poppins SemiBold" pitchFamily="34" charset="0"/>
                <a:ea typeface="Poppins SemiBold" pitchFamily="34" charset="-122"/>
                <a:cs typeface="Poppins SemiBold" pitchFamily="34" charset="-120"/>
              </a:rPr>
              <a:t>BILLING</a:t>
            </a:r>
            <a:endParaRPr lang="en-US" sz="1600" dirty="0"/>
          </a:p>
        </p:txBody>
      </p:sp>
      <p:sp>
        <p:nvSpPr>
          <p:cNvPr id="14" name="Text 12"/>
          <p:cNvSpPr/>
          <p:nvPr/>
        </p:nvSpPr>
        <p:spPr>
          <a:xfrm>
            <a:off x="8373258" y="2248991"/>
            <a:ext cx="3031057" cy="924520"/>
          </a:xfrm>
          <a:prstGeom prst="rect">
            <a:avLst/>
          </a:prstGeom>
          <a:noFill/>
          <a:ln/>
        </p:spPr>
        <p:txBody>
          <a:bodyPr wrap="square" lIns="0" tIns="0" rIns="0" bIns="0" rtlCol="0" anchor="t">
            <a:normAutofit/>
          </a:bodyPr>
          <a:lstStyle/>
          <a:p>
            <a:pPr marL="0" indent="0" algn="l">
              <a:lnSpc>
                <a:spcPct val="108000"/>
              </a:lnSpc>
              <a:buNone/>
            </a:pPr>
            <a:r>
              <a:rPr lang="en-US" sz="2800" dirty="0">
                <a:solidFill>
                  <a:srgbClr val="17141F"/>
                </a:solidFill>
                <a:latin typeface="Poppins Medium" pitchFamily="34" charset="0"/>
                <a:ea typeface="Poppins Medium" pitchFamily="34" charset="-122"/>
                <a:cs typeface="Poppins Medium" pitchFamily="34" charset="-120"/>
              </a:rPr>
              <a:t>Information is scattered</a:t>
            </a:r>
            <a:endParaRPr lang="en-US" sz="2800" dirty="0"/>
          </a:p>
        </p:txBody>
      </p:sp>
      <p:sp>
        <p:nvSpPr>
          <p:cNvPr id="15" name="Text 13"/>
          <p:cNvSpPr/>
          <p:nvPr/>
        </p:nvSpPr>
        <p:spPr>
          <a:xfrm>
            <a:off x="8373258" y="3344962"/>
            <a:ext cx="3031057" cy="1609328"/>
          </a:xfrm>
          <a:prstGeom prst="rect">
            <a:avLst/>
          </a:prstGeom>
          <a:noFill/>
          <a:ln/>
        </p:spPr>
        <p:txBody>
          <a:bodyPr wrap="square" lIns="0" tIns="0" rIns="0" bIns="0" rtlCol="0" anchor="t">
            <a:normAutofit/>
          </a:bodyPr>
          <a:lstStyle/>
          <a:p>
            <a:pPr marL="0" indent="0" algn="l">
              <a:lnSpc>
                <a:spcPct val="110000"/>
              </a:lnSpc>
              <a:buNone/>
            </a:pPr>
            <a:r>
              <a:rPr lang="en-US" sz="2400" dirty="0">
                <a:solidFill>
                  <a:srgbClr val="17141F"/>
                </a:solidFill>
                <a:latin typeface="Poppins" pitchFamily="34" charset="0"/>
                <a:ea typeface="Poppins" pitchFamily="34" charset="-122"/>
                <a:cs typeface="Poppins" pitchFamily="34" charset="-120"/>
              </a:rPr>
              <a:t>Scattered order information makes billing take extra time.</a:t>
            </a:r>
            <a:endParaRPr lang="en-US" sz="2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58786" y="558800"/>
            <a:ext cx="11632909" cy="243780"/>
          </a:xfrm>
          <a:prstGeom prst="rect">
            <a:avLst/>
          </a:prstGeom>
          <a:noFill/>
          <a:ln/>
        </p:spPr>
        <p:txBody>
          <a:bodyPr wrap="none" lIns="0" tIns="0" rIns="0" bIns="0" rtlCol="0" anchor="t"/>
          <a:lstStyle/>
          <a:p>
            <a:pPr marL="0" indent="0" algn="l">
              <a:lnSpc>
                <a:spcPct val="100000"/>
              </a:lnSpc>
              <a:buNone/>
            </a:pPr>
            <a:r>
              <a:rPr lang="en-US" sz="1600" kern="0" spc="16" dirty="0">
                <a:solidFill>
                  <a:srgbClr val="17141F"/>
                </a:solidFill>
                <a:latin typeface="Poppins SemiBold" pitchFamily="34" charset="0"/>
                <a:ea typeface="Poppins SemiBold" pitchFamily="34" charset="-122"/>
                <a:cs typeface="Poppins SemiBold" pitchFamily="34" charset="-120"/>
              </a:rPr>
              <a:t>PROPOSED SYSTEM</a:t>
            </a:r>
            <a:endParaRPr lang="en-US" sz="1600" dirty="0"/>
          </a:p>
        </p:txBody>
      </p:sp>
      <p:sp>
        <p:nvSpPr>
          <p:cNvPr id="3" name="Text 1"/>
          <p:cNvSpPr/>
          <p:nvPr/>
        </p:nvSpPr>
        <p:spPr>
          <a:xfrm>
            <a:off x="558786" y="897830"/>
            <a:ext cx="11074123" cy="1097161"/>
          </a:xfrm>
          <a:prstGeom prst="rect">
            <a:avLst/>
          </a:prstGeom>
          <a:noFill/>
          <a:ln/>
        </p:spPr>
        <p:txBody>
          <a:bodyPr wrap="square" lIns="0" tIns="0" rIns="0" bIns="0" rtlCol="0" anchor="t">
            <a:normAutofit/>
          </a:bodyPr>
          <a:lstStyle/>
          <a:p>
            <a:pPr marL="0" indent="0" algn="l">
              <a:lnSpc>
                <a:spcPct val="90000"/>
              </a:lnSpc>
              <a:buNone/>
            </a:pPr>
            <a:r>
              <a:rPr lang="en-US" sz="4000" kern="0" spc="-40" dirty="0">
                <a:solidFill>
                  <a:srgbClr val="17141F"/>
                </a:solidFill>
                <a:latin typeface="Gabarito ExtraBold" pitchFamily="34" charset="0"/>
                <a:ea typeface="Gabarito ExtraBold" pitchFamily="34" charset="-122"/>
                <a:cs typeface="Gabarito ExtraBold" pitchFamily="34" charset="-120"/>
              </a:rPr>
              <a:t>The proposed system keeps every step in one flow</a:t>
            </a:r>
            <a:endParaRPr lang="en-US" sz="4000" dirty="0"/>
          </a:p>
        </p:txBody>
      </p:sp>
      <p:sp>
        <p:nvSpPr>
          <p:cNvPr id="4" name="Text 2"/>
          <p:cNvSpPr/>
          <p:nvPr/>
        </p:nvSpPr>
        <p:spPr>
          <a:xfrm>
            <a:off x="558786" y="2458541"/>
            <a:ext cx="6370180" cy="2534642"/>
          </a:xfrm>
          <a:prstGeom prst="rect">
            <a:avLst/>
          </a:prstGeom>
          <a:noFill/>
          <a:ln/>
        </p:spPr>
        <p:txBody>
          <a:bodyPr wrap="square" lIns="0" tIns="0" rIns="0" bIns="0" rtlCol="0" anchor="t">
            <a:normAutofit/>
          </a:bodyPr>
          <a:lstStyle/>
          <a:p>
            <a:pPr marL="487680" indent="-487680" algn="l">
              <a:lnSpc>
                <a:spcPct val="110000"/>
              </a:lnSpc>
              <a:buSzPct val="100000"/>
              <a:buChar char="•"/>
            </a:pPr>
            <a:r>
              <a:rPr lang="en-US" sz="2400" dirty="0">
                <a:solidFill>
                  <a:srgbClr val="17141F"/>
                </a:solidFill>
                <a:latin typeface="Poppins" pitchFamily="34" charset="0"/>
                <a:ea typeface="Poppins" pitchFamily="34" charset="-122"/>
                <a:cs typeface="Poppins" pitchFamily="34" charset="-120"/>
              </a:rPr>
              <a:t>One connected workflow reduces repeated entry and confusion.</a:t>
            </a:r>
            <a:endParaRPr lang="en-US" sz="2400" dirty="0"/>
          </a:p>
          <a:p>
            <a:pPr marL="487680" indent="-487680" algn="l">
              <a:lnSpc>
                <a:spcPct val="110000"/>
              </a:lnSpc>
              <a:buSzPct val="100000"/>
              <a:buChar char="•"/>
            </a:pPr>
            <a:r>
              <a:rPr lang="en-US" sz="2400" dirty="0">
                <a:solidFill>
                  <a:srgbClr val="17141F"/>
                </a:solidFill>
                <a:latin typeface="Poppins" pitchFamily="34" charset="0"/>
                <a:ea typeface="Poppins" pitchFamily="34" charset="-122"/>
                <a:cs typeface="Poppins" pitchFamily="34" charset="-120"/>
              </a:rPr>
              <a:t>The kitchen receives clearer preparation information.</a:t>
            </a:r>
            <a:endParaRPr lang="en-US" sz="2400" dirty="0"/>
          </a:p>
          <a:p>
            <a:pPr marL="487680" indent="-487680" algn="l">
              <a:lnSpc>
                <a:spcPct val="110000"/>
              </a:lnSpc>
              <a:buSzPct val="100000"/>
              <a:buChar char="•"/>
            </a:pPr>
            <a:r>
              <a:rPr lang="en-US" sz="2400" dirty="0">
                <a:solidFill>
                  <a:srgbClr val="17141F"/>
                </a:solidFill>
                <a:latin typeface="Poppins" pitchFamily="34" charset="0"/>
                <a:ea typeface="Poppins" pitchFamily="34" charset="-122"/>
                <a:cs typeface="Poppins" pitchFamily="34" charset="-120"/>
              </a:rPr>
              <a:t>Billing uses the same order data for a consistent total.</a:t>
            </a:r>
            <a:endParaRPr lang="en-US" sz="2400" dirty="0"/>
          </a:p>
        </p:txBody>
      </p:sp>
      <p:pic>
        <p:nvPicPr>
          <p:cNvPr id="5" name="Image 0" descr="preencoded.png"/>
          <p:cNvPicPr>
            <a:picLocks noChangeAspect="1"/>
          </p:cNvPicPr>
          <p:nvPr/>
        </p:nvPicPr>
        <p:blipFill>
          <a:blip r:embed="rId3"/>
          <a:stretch>
            <a:fillRect/>
          </a:stretch>
        </p:blipFill>
        <p:spPr>
          <a:xfrm>
            <a:off x="7386056" y="2229941"/>
            <a:ext cx="4246853" cy="4069259"/>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87380" y="228600"/>
            <a:ext cx="11226519" cy="243780"/>
          </a:xfrm>
          <a:prstGeom prst="rect">
            <a:avLst/>
          </a:prstGeom>
          <a:noFill/>
          <a:ln/>
        </p:spPr>
        <p:txBody>
          <a:bodyPr wrap="none" lIns="0" tIns="0" rIns="0" bIns="0" rtlCol="0" anchor="t"/>
          <a:lstStyle/>
          <a:p>
            <a:pPr marL="0" indent="0" algn="l">
              <a:lnSpc>
                <a:spcPct val="100000"/>
              </a:lnSpc>
              <a:buNone/>
            </a:pPr>
            <a:r>
              <a:rPr lang="en-US" sz="1600" kern="0" spc="16" dirty="0">
                <a:solidFill>
                  <a:srgbClr val="17141F"/>
                </a:solidFill>
                <a:latin typeface="Poppins SemiBold" pitchFamily="34" charset="0"/>
                <a:ea typeface="Poppins SemiBold" pitchFamily="34" charset="-122"/>
                <a:cs typeface="Poppins SemiBold" pitchFamily="34" charset="-120"/>
              </a:rPr>
              <a:t>RAPTOR FLOWCHART · RESTAURANT ORDER, KITCHEN &amp; BILLING SYSTEM</a:t>
            </a:r>
            <a:endParaRPr lang="en-US" sz="1600" dirty="0"/>
          </a:p>
        </p:txBody>
      </p:sp>
      <p:sp>
        <p:nvSpPr>
          <p:cNvPr id="3" name="Text 1"/>
          <p:cNvSpPr/>
          <p:nvPr/>
        </p:nvSpPr>
        <p:spPr>
          <a:xfrm>
            <a:off x="787380" y="567630"/>
            <a:ext cx="10616934" cy="548580"/>
          </a:xfrm>
          <a:prstGeom prst="rect">
            <a:avLst/>
          </a:prstGeom>
          <a:noFill/>
          <a:ln/>
        </p:spPr>
        <p:txBody>
          <a:bodyPr wrap="none" lIns="0" tIns="0" rIns="0" bIns="0" rtlCol="0" anchor="t"/>
          <a:lstStyle/>
          <a:p>
            <a:pPr marL="0" indent="0" algn="ctr">
              <a:lnSpc>
                <a:spcPct val="90000"/>
              </a:lnSpc>
              <a:buNone/>
            </a:pPr>
            <a:r>
              <a:rPr lang="en-US" sz="4000" kern="0" spc="-40" dirty="0">
                <a:solidFill>
                  <a:srgbClr val="17141F"/>
                </a:solidFill>
                <a:latin typeface="Gabarito ExtraBold" pitchFamily="34" charset="0"/>
                <a:ea typeface="Gabarito ExtraBold" pitchFamily="34" charset="-122"/>
                <a:cs typeface="Gabarito ExtraBold" pitchFamily="34" charset="-120"/>
              </a:rPr>
              <a:t>How the restaurant system works</a:t>
            </a:r>
            <a:endParaRPr lang="en-US" sz="4000" dirty="0"/>
          </a:p>
        </p:txBody>
      </p:sp>
      <p:sp>
        <p:nvSpPr>
          <p:cNvPr id="4" name="Shape 2"/>
          <p:cNvSpPr/>
          <p:nvPr/>
        </p:nvSpPr>
        <p:spPr>
          <a:xfrm>
            <a:off x="4825879" y="1041400"/>
            <a:ext cx="2539936" cy="431800"/>
          </a:xfrm>
          <a:prstGeom prst="ellipse">
            <a:avLst/>
          </a:prstGeom>
          <a:solidFill>
            <a:srgbClr val="6A3CFF"/>
          </a:solidFill>
          <a:ln w="12700">
            <a:solidFill>
              <a:srgbClr val="A88B70"/>
            </a:solidFill>
            <a:prstDash val="solid"/>
          </a:ln>
        </p:spPr>
      </p:sp>
      <p:sp>
        <p:nvSpPr>
          <p:cNvPr id="5" name="Text 3"/>
          <p:cNvSpPr/>
          <p:nvPr/>
        </p:nvSpPr>
        <p:spPr>
          <a:xfrm>
            <a:off x="4597285" y="1152624"/>
            <a:ext cx="2997125" cy="234652"/>
          </a:xfrm>
          <a:prstGeom prst="rect">
            <a:avLst/>
          </a:prstGeom>
          <a:noFill/>
          <a:ln/>
        </p:spPr>
        <p:txBody>
          <a:bodyPr wrap="none" lIns="0" tIns="0" rIns="0" bIns="0" rtlCol="0" anchor="t"/>
          <a:lstStyle/>
          <a:p>
            <a:pPr marL="0" indent="0" algn="ctr">
              <a:lnSpc>
                <a:spcPct val="110000"/>
              </a:lnSpc>
              <a:buNone/>
            </a:pPr>
            <a:r>
              <a:rPr lang="en-US" sz="1400" dirty="0">
                <a:solidFill>
                  <a:srgbClr val="17141F"/>
                </a:solidFill>
                <a:latin typeface="Poppins" pitchFamily="34" charset="0"/>
                <a:ea typeface="Poppins" pitchFamily="34" charset="-122"/>
                <a:cs typeface="Poppins" pitchFamily="34" charset="-120"/>
              </a:rPr>
              <a:t>Start</a:t>
            </a:r>
            <a:endParaRPr lang="en-US" sz="1400" dirty="0"/>
          </a:p>
        </p:txBody>
      </p:sp>
      <p:sp>
        <p:nvSpPr>
          <p:cNvPr id="6" name="Shape 4"/>
          <p:cNvSpPr/>
          <p:nvPr/>
        </p:nvSpPr>
        <p:spPr>
          <a:xfrm rot="5400000">
            <a:off x="5994251" y="1485900"/>
            <a:ext cx="203195" cy="203200"/>
          </a:xfrm>
          <a:prstGeom prst="rightArrow">
            <a:avLst/>
          </a:prstGeom>
          <a:solidFill>
            <a:srgbClr val="FF7A1A"/>
          </a:solidFill>
          <a:ln/>
        </p:spPr>
      </p:sp>
      <p:sp>
        <p:nvSpPr>
          <p:cNvPr id="7" name="Shape 5"/>
          <p:cNvSpPr/>
          <p:nvPr/>
        </p:nvSpPr>
        <p:spPr>
          <a:xfrm>
            <a:off x="4190895" y="1701800"/>
            <a:ext cx="3809905" cy="482600"/>
          </a:xfrm>
          <a:prstGeom prst="parallelogram">
            <a:avLst/>
          </a:prstGeom>
          <a:solidFill>
            <a:srgbClr val="FF7A1A"/>
          </a:solidFill>
          <a:ln w="12700">
            <a:solidFill>
              <a:srgbClr val="A88B70"/>
            </a:solidFill>
            <a:prstDash val="solid"/>
          </a:ln>
        </p:spPr>
      </p:sp>
      <p:sp>
        <p:nvSpPr>
          <p:cNvPr id="8" name="Text 6"/>
          <p:cNvSpPr/>
          <p:nvPr/>
        </p:nvSpPr>
        <p:spPr>
          <a:xfrm>
            <a:off x="4114697" y="1834158"/>
            <a:ext cx="3962301" cy="217884"/>
          </a:xfrm>
          <a:prstGeom prst="rect">
            <a:avLst/>
          </a:prstGeom>
          <a:noFill/>
          <a:ln/>
        </p:spPr>
        <p:txBody>
          <a:bodyPr wrap="none" lIns="0" tIns="0" rIns="0" bIns="0" rtlCol="0" anchor="t"/>
          <a:lstStyle/>
          <a:p>
            <a:pPr marL="0" indent="0" algn="ctr">
              <a:lnSpc>
                <a:spcPct val="110000"/>
              </a:lnSpc>
              <a:buNone/>
            </a:pPr>
            <a:r>
              <a:rPr lang="en-US" sz="1300" dirty="0">
                <a:solidFill>
                  <a:srgbClr val="17141F"/>
                </a:solidFill>
                <a:latin typeface="Poppins" pitchFamily="34" charset="0"/>
                <a:ea typeface="Poppins" pitchFamily="34" charset="-122"/>
                <a:cs typeface="Poppins" pitchFamily="34" charset="-120"/>
              </a:rPr>
              <a:t>Enter customer order</a:t>
            </a:r>
            <a:endParaRPr lang="en-US" sz="1300" dirty="0"/>
          </a:p>
        </p:txBody>
      </p:sp>
      <p:sp>
        <p:nvSpPr>
          <p:cNvPr id="9" name="Shape 7"/>
          <p:cNvSpPr/>
          <p:nvPr/>
        </p:nvSpPr>
        <p:spPr>
          <a:xfrm rot="5400000">
            <a:off x="5994251" y="2209800"/>
            <a:ext cx="203195" cy="203200"/>
          </a:xfrm>
          <a:prstGeom prst="rightArrow">
            <a:avLst/>
          </a:prstGeom>
          <a:solidFill>
            <a:srgbClr val="FF7A1A"/>
          </a:solidFill>
          <a:ln/>
        </p:spPr>
      </p:sp>
      <p:sp>
        <p:nvSpPr>
          <p:cNvPr id="10" name="Shape 8"/>
          <p:cNvSpPr/>
          <p:nvPr/>
        </p:nvSpPr>
        <p:spPr>
          <a:xfrm>
            <a:off x="4343291" y="2476500"/>
            <a:ext cx="3809905" cy="482600"/>
          </a:xfrm>
          <a:prstGeom prst="rect">
            <a:avLst/>
          </a:prstGeom>
          <a:solidFill>
            <a:srgbClr val="FF5FA8"/>
          </a:solidFill>
          <a:ln w="12700">
            <a:solidFill>
              <a:srgbClr val="A88B70"/>
            </a:solidFill>
            <a:prstDash val="solid"/>
          </a:ln>
        </p:spPr>
      </p:sp>
      <p:sp>
        <p:nvSpPr>
          <p:cNvPr id="11" name="Text 9"/>
          <p:cNvSpPr/>
          <p:nvPr/>
        </p:nvSpPr>
        <p:spPr>
          <a:xfrm>
            <a:off x="4114697" y="2558058"/>
            <a:ext cx="3962301" cy="217884"/>
          </a:xfrm>
          <a:prstGeom prst="rect">
            <a:avLst/>
          </a:prstGeom>
          <a:noFill/>
          <a:ln/>
        </p:spPr>
        <p:txBody>
          <a:bodyPr wrap="none" lIns="0" tIns="0" rIns="0" bIns="0" rtlCol="0" anchor="t"/>
          <a:lstStyle/>
          <a:p>
            <a:pPr marL="0" indent="0" algn="ctr">
              <a:lnSpc>
                <a:spcPct val="110000"/>
              </a:lnSpc>
              <a:buNone/>
            </a:pPr>
            <a:r>
              <a:rPr lang="en-US" sz="1300" dirty="0">
                <a:solidFill>
                  <a:srgbClr val="17141F"/>
                </a:solidFill>
                <a:latin typeface="Poppins" pitchFamily="34" charset="0"/>
                <a:ea typeface="Poppins" pitchFamily="34" charset="-122"/>
                <a:cs typeface="Poppins" pitchFamily="34" charset="-120"/>
              </a:rPr>
              <a:t>Select menu items and quantity</a:t>
            </a:r>
            <a:endParaRPr lang="en-US" sz="1300" dirty="0"/>
          </a:p>
        </p:txBody>
      </p:sp>
      <p:sp>
        <p:nvSpPr>
          <p:cNvPr id="12" name="Shape 10"/>
          <p:cNvSpPr/>
          <p:nvPr/>
        </p:nvSpPr>
        <p:spPr>
          <a:xfrm rot="5400000">
            <a:off x="5994251" y="2933700"/>
            <a:ext cx="203195" cy="203200"/>
          </a:xfrm>
          <a:prstGeom prst="rightArrow">
            <a:avLst/>
          </a:prstGeom>
          <a:solidFill>
            <a:srgbClr val="FF7A1A"/>
          </a:solidFill>
          <a:ln/>
        </p:spPr>
      </p:sp>
      <p:sp>
        <p:nvSpPr>
          <p:cNvPr id="13" name="Shape 11"/>
          <p:cNvSpPr/>
          <p:nvPr/>
        </p:nvSpPr>
        <p:spPr>
          <a:xfrm>
            <a:off x="4190895" y="3149600"/>
            <a:ext cx="3809905" cy="482600"/>
          </a:xfrm>
          <a:prstGeom prst="rect">
            <a:avLst/>
          </a:prstGeom>
          <a:solidFill>
            <a:srgbClr val="FF5FA8"/>
          </a:solidFill>
          <a:ln w="12700">
            <a:solidFill>
              <a:srgbClr val="A88B70"/>
            </a:solidFill>
            <a:prstDash val="solid"/>
          </a:ln>
        </p:spPr>
      </p:sp>
      <p:sp>
        <p:nvSpPr>
          <p:cNvPr id="14" name="Text 12"/>
          <p:cNvSpPr/>
          <p:nvPr/>
        </p:nvSpPr>
        <p:spPr>
          <a:xfrm>
            <a:off x="4114697" y="3281958"/>
            <a:ext cx="3962301" cy="217884"/>
          </a:xfrm>
          <a:prstGeom prst="rect">
            <a:avLst/>
          </a:prstGeom>
          <a:noFill/>
          <a:ln/>
        </p:spPr>
        <p:txBody>
          <a:bodyPr wrap="none" lIns="0" tIns="0" rIns="0" bIns="0" rtlCol="0" anchor="t"/>
          <a:lstStyle/>
          <a:p>
            <a:pPr marL="0" indent="0" algn="ctr">
              <a:lnSpc>
                <a:spcPct val="110000"/>
              </a:lnSpc>
              <a:buNone/>
            </a:pPr>
            <a:r>
              <a:rPr lang="en-US" sz="1300" dirty="0">
                <a:solidFill>
                  <a:srgbClr val="17141F"/>
                </a:solidFill>
                <a:latin typeface="Poppins" pitchFamily="34" charset="0"/>
                <a:ea typeface="Poppins" pitchFamily="34" charset="-122"/>
                <a:cs typeface="Poppins" pitchFamily="34" charset="-120"/>
              </a:rPr>
              <a:t>Validate the order</a:t>
            </a:r>
            <a:endParaRPr lang="en-US" sz="1300" dirty="0"/>
          </a:p>
        </p:txBody>
      </p:sp>
      <p:sp>
        <p:nvSpPr>
          <p:cNvPr id="15" name="Shape 13"/>
          <p:cNvSpPr/>
          <p:nvPr/>
        </p:nvSpPr>
        <p:spPr>
          <a:xfrm rot="5400000">
            <a:off x="5994251" y="3657600"/>
            <a:ext cx="203195" cy="203200"/>
          </a:xfrm>
          <a:prstGeom prst="rightArrow">
            <a:avLst/>
          </a:prstGeom>
          <a:solidFill>
            <a:srgbClr val="FF7A1A"/>
          </a:solidFill>
          <a:ln/>
        </p:spPr>
      </p:sp>
      <p:sp>
        <p:nvSpPr>
          <p:cNvPr id="16" name="Shape 14"/>
          <p:cNvSpPr/>
          <p:nvPr/>
        </p:nvSpPr>
        <p:spPr>
          <a:xfrm>
            <a:off x="4851279" y="3873500"/>
            <a:ext cx="2489138" cy="787400"/>
          </a:xfrm>
          <a:prstGeom prst="diamond">
            <a:avLst/>
          </a:prstGeom>
          <a:solidFill>
            <a:srgbClr val="3DB7F5"/>
          </a:solidFill>
          <a:ln w="12700">
            <a:solidFill>
              <a:srgbClr val="A88B70"/>
            </a:solidFill>
            <a:prstDash val="solid"/>
          </a:ln>
        </p:spPr>
      </p:sp>
      <p:sp>
        <p:nvSpPr>
          <p:cNvPr id="17" name="Text 15"/>
          <p:cNvSpPr/>
          <p:nvPr/>
        </p:nvSpPr>
        <p:spPr>
          <a:xfrm>
            <a:off x="4825879" y="4153892"/>
            <a:ext cx="2539936" cy="201116"/>
          </a:xfrm>
          <a:prstGeom prst="rect">
            <a:avLst/>
          </a:prstGeom>
          <a:noFill/>
          <a:ln/>
        </p:spPr>
        <p:txBody>
          <a:bodyPr wrap="none" lIns="0" tIns="0" rIns="0" bIns="0" rtlCol="0" anchor="t"/>
          <a:lstStyle/>
          <a:p>
            <a:pPr marL="0" indent="0" algn="ctr">
              <a:lnSpc>
                <a:spcPct val="110000"/>
              </a:lnSpc>
              <a:buNone/>
            </a:pPr>
            <a:r>
              <a:rPr lang="en-US" sz="1200" dirty="0">
                <a:solidFill>
                  <a:srgbClr val="17141F"/>
                </a:solidFill>
                <a:latin typeface="Poppins" pitchFamily="34" charset="0"/>
                <a:ea typeface="Poppins" pitchFamily="34" charset="-122"/>
                <a:cs typeface="Poppins" pitchFamily="34" charset="-120"/>
              </a:rPr>
              <a:t>Is the order valid?</a:t>
            </a:r>
            <a:endParaRPr lang="en-US" sz="1200" dirty="0"/>
          </a:p>
        </p:txBody>
      </p:sp>
      <p:sp>
        <p:nvSpPr>
          <p:cNvPr id="18" name="Shape 16"/>
          <p:cNvSpPr/>
          <p:nvPr/>
        </p:nvSpPr>
        <p:spPr>
          <a:xfrm rot="5400000">
            <a:off x="5994251" y="4699000"/>
            <a:ext cx="203195" cy="203200"/>
          </a:xfrm>
          <a:prstGeom prst="rightArrow">
            <a:avLst/>
          </a:prstGeom>
          <a:solidFill>
            <a:srgbClr val="FF7A1A"/>
          </a:solidFill>
          <a:ln/>
        </p:spPr>
      </p:sp>
      <p:sp>
        <p:nvSpPr>
          <p:cNvPr id="19" name="Shape 17"/>
          <p:cNvSpPr/>
          <p:nvPr/>
        </p:nvSpPr>
        <p:spPr>
          <a:xfrm>
            <a:off x="4190895" y="4914900"/>
            <a:ext cx="3809905" cy="431800"/>
          </a:xfrm>
          <a:prstGeom prst="rect">
            <a:avLst/>
          </a:prstGeom>
          <a:solidFill>
            <a:srgbClr val="FF5FA8"/>
          </a:solidFill>
          <a:ln w="12700">
            <a:solidFill>
              <a:srgbClr val="A88B70"/>
            </a:solidFill>
            <a:prstDash val="solid"/>
          </a:ln>
        </p:spPr>
      </p:sp>
      <p:sp>
        <p:nvSpPr>
          <p:cNvPr id="20" name="Text 18"/>
          <p:cNvSpPr/>
          <p:nvPr/>
        </p:nvSpPr>
        <p:spPr>
          <a:xfrm>
            <a:off x="4114697" y="5021858"/>
            <a:ext cx="3962301" cy="217884"/>
          </a:xfrm>
          <a:prstGeom prst="rect">
            <a:avLst/>
          </a:prstGeom>
          <a:noFill/>
          <a:ln/>
        </p:spPr>
        <p:txBody>
          <a:bodyPr wrap="none" lIns="0" tIns="0" rIns="0" bIns="0" rtlCol="0" anchor="t"/>
          <a:lstStyle/>
          <a:p>
            <a:pPr marL="0" indent="0" algn="ctr">
              <a:lnSpc>
                <a:spcPct val="110000"/>
              </a:lnSpc>
              <a:buNone/>
            </a:pPr>
            <a:r>
              <a:rPr lang="en-US" sz="1300" dirty="0">
                <a:solidFill>
                  <a:srgbClr val="17141F"/>
                </a:solidFill>
                <a:latin typeface="Poppins" pitchFamily="34" charset="0"/>
                <a:ea typeface="Poppins" pitchFamily="34" charset="-122"/>
                <a:cs typeface="Poppins" pitchFamily="34" charset="-120"/>
              </a:rPr>
              <a:t>Send valid order to kitchen</a:t>
            </a:r>
            <a:endParaRPr lang="en-US" sz="1300" dirty="0"/>
          </a:p>
        </p:txBody>
      </p:sp>
      <p:sp>
        <p:nvSpPr>
          <p:cNvPr id="21" name="Shape 19"/>
          <p:cNvSpPr/>
          <p:nvPr/>
        </p:nvSpPr>
        <p:spPr>
          <a:xfrm rot="5400000">
            <a:off x="5994251" y="5384800"/>
            <a:ext cx="203195" cy="203200"/>
          </a:xfrm>
          <a:prstGeom prst="rightArrow">
            <a:avLst/>
          </a:prstGeom>
          <a:solidFill>
            <a:srgbClr val="FF7A1A"/>
          </a:solidFill>
          <a:ln/>
        </p:spPr>
      </p:sp>
      <p:sp>
        <p:nvSpPr>
          <p:cNvPr id="22" name="Shape 20"/>
          <p:cNvSpPr/>
          <p:nvPr/>
        </p:nvSpPr>
        <p:spPr>
          <a:xfrm>
            <a:off x="4190895" y="5600700"/>
            <a:ext cx="3809905" cy="431800"/>
          </a:xfrm>
          <a:prstGeom prst="rect">
            <a:avLst/>
          </a:prstGeom>
          <a:solidFill>
            <a:srgbClr val="FF5FA8"/>
          </a:solidFill>
          <a:ln w="12700">
            <a:solidFill>
              <a:srgbClr val="A88B70"/>
            </a:solidFill>
            <a:prstDash val="solid"/>
          </a:ln>
        </p:spPr>
      </p:sp>
      <p:sp>
        <p:nvSpPr>
          <p:cNvPr id="23" name="Text 21"/>
          <p:cNvSpPr/>
          <p:nvPr/>
        </p:nvSpPr>
        <p:spPr>
          <a:xfrm>
            <a:off x="4114697" y="5707658"/>
            <a:ext cx="3962301" cy="217884"/>
          </a:xfrm>
          <a:prstGeom prst="rect">
            <a:avLst/>
          </a:prstGeom>
          <a:noFill/>
          <a:ln/>
        </p:spPr>
        <p:txBody>
          <a:bodyPr wrap="none" lIns="0" tIns="0" rIns="0" bIns="0" rtlCol="0" anchor="t"/>
          <a:lstStyle/>
          <a:p>
            <a:pPr marL="0" indent="0" algn="ctr">
              <a:lnSpc>
                <a:spcPct val="110000"/>
              </a:lnSpc>
              <a:buNone/>
            </a:pPr>
            <a:r>
              <a:rPr lang="en-US" sz="1300" dirty="0">
                <a:solidFill>
                  <a:srgbClr val="17141F"/>
                </a:solidFill>
                <a:latin typeface="Poppins" pitchFamily="34" charset="0"/>
                <a:ea typeface="Poppins" pitchFamily="34" charset="-122"/>
                <a:cs typeface="Poppins" pitchFamily="34" charset="-120"/>
              </a:rPr>
              <a:t>Calculate bill</a:t>
            </a:r>
            <a:endParaRPr lang="en-US" sz="1300" dirty="0"/>
          </a:p>
        </p:txBody>
      </p:sp>
      <p:sp>
        <p:nvSpPr>
          <p:cNvPr id="24" name="Shape 22"/>
          <p:cNvSpPr/>
          <p:nvPr/>
        </p:nvSpPr>
        <p:spPr>
          <a:xfrm rot="5400000">
            <a:off x="5994251" y="6070600"/>
            <a:ext cx="203195" cy="203200"/>
          </a:xfrm>
          <a:prstGeom prst="rightArrow">
            <a:avLst/>
          </a:prstGeom>
          <a:solidFill>
            <a:srgbClr val="FF7A1A"/>
          </a:solidFill>
          <a:ln/>
        </p:spPr>
      </p:sp>
      <p:sp>
        <p:nvSpPr>
          <p:cNvPr id="25" name="Shape 23"/>
          <p:cNvSpPr/>
          <p:nvPr/>
        </p:nvSpPr>
        <p:spPr>
          <a:xfrm>
            <a:off x="4190895" y="6286500"/>
            <a:ext cx="3809905" cy="406400"/>
          </a:xfrm>
          <a:prstGeom prst="parallelogram">
            <a:avLst/>
          </a:prstGeom>
          <a:solidFill>
            <a:srgbClr val="FF7A1A"/>
          </a:solidFill>
          <a:ln w="12700">
            <a:solidFill>
              <a:srgbClr val="A88B70"/>
            </a:solidFill>
            <a:prstDash val="solid"/>
          </a:ln>
        </p:spPr>
      </p:sp>
      <p:sp>
        <p:nvSpPr>
          <p:cNvPr id="26" name="Text 24"/>
          <p:cNvSpPr/>
          <p:nvPr/>
        </p:nvSpPr>
        <p:spPr>
          <a:xfrm>
            <a:off x="4114697" y="6389092"/>
            <a:ext cx="3962301" cy="201116"/>
          </a:xfrm>
          <a:prstGeom prst="rect">
            <a:avLst/>
          </a:prstGeom>
          <a:noFill/>
          <a:ln/>
        </p:spPr>
        <p:txBody>
          <a:bodyPr wrap="none" lIns="0" tIns="0" rIns="0" bIns="0" rtlCol="0" anchor="t"/>
          <a:lstStyle/>
          <a:p>
            <a:pPr marL="0" indent="0" algn="ctr">
              <a:lnSpc>
                <a:spcPct val="110000"/>
              </a:lnSpc>
              <a:buNone/>
            </a:pPr>
            <a:r>
              <a:rPr lang="en-US" sz="1200" dirty="0">
                <a:solidFill>
                  <a:srgbClr val="17141F"/>
                </a:solidFill>
                <a:latin typeface="Poppins" pitchFamily="34" charset="0"/>
                <a:ea typeface="Poppins" pitchFamily="34" charset="-122"/>
                <a:cs typeface="Poppins" pitchFamily="34" charset="-120"/>
              </a:rPr>
              <a:t>Display / print bill</a:t>
            </a:r>
            <a:endParaRPr lang="en-US" sz="1200" dirty="0"/>
          </a:p>
        </p:txBody>
      </p:sp>
      <p:sp>
        <p:nvSpPr>
          <p:cNvPr id="27" name="Shape 25"/>
          <p:cNvSpPr/>
          <p:nvPr/>
        </p:nvSpPr>
        <p:spPr>
          <a:xfrm>
            <a:off x="8000800" y="6400800"/>
            <a:ext cx="1015975" cy="177800"/>
          </a:xfrm>
          <a:prstGeom prst="rightArrow">
            <a:avLst/>
          </a:prstGeom>
          <a:solidFill>
            <a:srgbClr val="FF7A1A"/>
          </a:solidFill>
          <a:ln/>
        </p:spPr>
      </p:sp>
      <p:sp>
        <p:nvSpPr>
          <p:cNvPr id="28" name="Shape 26"/>
          <p:cNvSpPr/>
          <p:nvPr/>
        </p:nvSpPr>
        <p:spPr>
          <a:xfrm>
            <a:off x="9194570" y="6286500"/>
            <a:ext cx="1904952" cy="406400"/>
          </a:xfrm>
          <a:prstGeom prst="ellipse">
            <a:avLst/>
          </a:prstGeom>
          <a:solidFill>
            <a:srgbClr val="6A3CFF"/>
          </a:solidFill>
          <a:ln w="12700">
            <a:solidFill>
              <a:srgbClr val="A88B70"/>
            </a:solidFill>
            <a:prstDash val="solid"/>
          </a:ln>
        </p:spPr>
      </p:sp>
      <p:sp>
        <p:nvSpPr>
          <p:cNvPr id="29" name="Text 27"/>
          <p:cNvSpPr/>
          <p:nvPr/>
        </p:nvSpPr>
        <p:spPr>
          <a:xfrm>
            <a:off x="8965976" y="6380758"/>
            <a:ext cx="2362141" cy="217884"/>
          </a:xfrm>
          <a:prstGeom prst="rect">
            <a:avLst/>
          </a:prstGeom>
          <a:noFill/>
          <a:ln/>
        </p:spPr>
        <p:txBody>
          <a:bodyPr wrap="none" lIns="0" tIns="0" rIns="0" bIns="0" rtlCol="0" anchor="t"/>
          <a:lstStyle/>
          <a:p>
            <a:pPr marL="0" indent="0" algn="ctr">
              <a:lnSpc>
                <a:spcPct val="110000"/>
              </a:lnSpc>
              <a:buNone/>
            </a:pPr>
            <a:r>
              <a:rPr lang="en-US" sz="1300" dirty="0">
                <a:solidFill>
                  <a:srgbClr val="17141F"/>
                </a:solidFill>
                <a:latin typeface="Poppins" pitchFamily="34" charset="0"/>
                <a:ea typeface="Poppins" pitchFamily="34" charset="-122"/>
                <a:cs typeface="Poppins" pitchFamily="34" charset="-120"/>
              </a:rPr>
              <a:t>End</a:t>
            </a:r>
            <a:endParaRPr lang="en-US" sz="1300" dirty="0"/>
          </a:p>
        </p:txBody>
      </p:sp>
      <p:sp>
        <p:nvSpPr>
          <p:cNvPr id="30" name="Shape 28"/>
          <p:cNvSpPr/>
          <p:nvPr/>
        </p:nvSpPr>
        <p:spPr>
          <a:xfrm rot="10800000">
            <a:off x="3454314" y="4165600"/>
            <a:ext cx="914377" cy="177800"/>
          </a:xfrm>
          <a:prstGeom prst="rightArrow">
            <a:avLst/>
          </a:prstGeom>
          <a:solidFill>
            <a:srgbClr val="17141F"/>
          </a:solidFill>
          <a:ln/>
        </p:spPr>
      </p:sp>
      <p:sp>
        <p:nvSpPr>
          <p:cNvPr id="31" name="Text 29"/>
          <p:cNvSpPr/>
          <p:nvPr/>
        </p:nvSpPr>
        <p:spPr>
          <a:xfrm>
            <a:off x="2743131" y="3911600"/>
            <a:ext cx="838179" cy="553045"/>
          </a:xfrm>
          <a:prstGeom prst="rect">
            <a:avLst/>
          </a:prstGeom>
          <a:noFill/>
          <a:ln/>
        </p:spPr>
        <p:txBody>
          <a:bodyPr wrap="square" lIns="0" tIns="0" rIns="0" bIns="0" rtlCol="0" anchor="t">
            <a:normAutofit/>
          </a:bodyPr>
          <a:lstStyle/>
          <a:p>
            <a:pPr marL="0" indent="0" algn="ctr">
              <a:lnSpc>
                <a:spcPct val="110000"/>
              </a:lnSpc>
              <a:buNone/>
            </a:pPr>
            <a:r>
              <a:rPr lang="en-US" sz="1100" b="1" dirty="0">
                <a:solidFill>
                  <a:srgbClr val="17141F"/>
                </a:solidFill>
                <a:latin typeface="Poppins Bold" pitchFamily="34" charset="0"/>
                <a:ea typeface="Poppins Bold" pitchFamily="34" charset="-122"/>
                <a:cs typeface="Poppins Bold" pitchFamily="34" charset="-120"/>
              </a:rPr>
              <a:t>No</a:t>
            </a:r>
            <a:endParaRPr lang="en-US" sz="1100" dirty="0"/>
          </a:p>
          <a:p>
            <a:pPr marL="0" indent="0" algn="ctr">
              <a:lnSpc>
                <a:spcPct val="110000"/>
              </a:lnSpc>
              <a:buNone/>
            </a:pPr>
            <a:r>
              <a:rPr lang="en-US" sz="1100" dirty="0">
                <a:solidFill>
                  <a:srgbClr val="17141F"/>
                </a:solidFill>
                <a:latin typeface="Poppins" pitchFamily="34" charset="0"/>
                <a:ea typeface="Poppins" pitchFamily="34" charset="-122"/>
                <a:cs typeface="Poppins" pitchFamily="34" charset="-120"/>
              </a:rPr>
              <a:t>Invalid order</a:t>
            </a:r>
            <a:endParaRPr lang="en-US" sz="1100" dirty="0"/>
          </a:p>
        </p:txBody>
      </p:sp>
      <p:sp>
        <p:nvSpPr>
          <p:cNvPr id="32" name="Shape 30"/>
          <p:cNvSpPr/>
          <p:nvPr/>
        </p:nvSpPr>
        <p:spPr>
          <a:xfrm rot="16200000">
            <a:off x="3174921" y="3048000"/>
            <a:ext cx="177796" cy="1016000"/>
          </a:xfrm>
          <a:prstGeom prst="rightArrow">
            <a:avLst/>
          </a:prstGeom>
          <a:solidFill>
            <a:srgbClr val="17141F"/>
          </a:solidFill>
          <a:ln/>
        </p:spPr>
      </p:sp>
      <p:sp>
        <p:nvSpPr>
          <p:cNvPr id="33" name="Shape 31"/>
          <p:cNvSpPr/>
          <p:nvPr/>
        </p:nvSpPr>
        <p:spPr>
          <a:xfrm>
            <a:off x="3174921" y="2870200"/>
            <a:ext cx="1015975" cy="177800"/>
          </a:xfrm>
          <a:prstGeom prst="rightArrow">
            <a:avLst/>
          </a:prstGeom>
          <a:solidFill>
            <a:srgbClr val="17141F"/>
          </a:solidFill>
          <a:ln/>
        </p:spPr>
      </p:sp>
      <p:sp>
        <p:nvSpPr>
          <p:cNvPr id="34" name="Text 32"/>
          <p:cNvSpPr/>
          <p:nvPr/>
        </p:nvSpPr>
        <p:spPr>
          <a:xfrm>
            <a:off x="2412940" y="2311400"/>
            <a:ext cx="1117572" cy="368697"/>
          </a:xfrm>
          <a:prstGeom prst="rect">
            <a:avLst/>
          </a:prstGeom>
          <a:noFill/>
          <a:ln/>
        </p:spPr>
        <p:txBody>
          <a:bodyPr wrap="square" lIns="0" tIns="0" rIns="0" bIns="0" rtlCol="0" anchor="t">
            <a:normAutofit/>
          </a:bodyPr>
          <a:lstStyle/>
          <a:p>
            <a:pPr marL="0" indent="0" algn="ctr">
              <a:lnSpc>
                <a:spcPct val="110000"/>
              </a:lnSpc>
              <a:buNone/>
            </a:pPr>
            <a:r>
              <a:rPr lang="en-US" sz="1100" dirty="0">
                <a:solidFill>
                  <a:srgbClr val="17141F"/>
                </a:solidFill>
                <a:latin typeface="Poppins" pitchFamily="34" charset="0"/>
                <a:ea typeface="Poppins" pitchFamily="34" charset="-122"/>
                <a:cs typeface="Poppins" pitchFamily="34" charset="-120"/>
              </a:rPr>
              <a:t>Return to</a:t>
            </a:r>
            <a:endParaRPr lang="en-US" sz="1100" dirty="0"/>
          </a:p>
          <a:p>
            <a:pPr marL="0" indent="0" algn="ctr">
              <a:lnSpc>
                <a:spcPct val="110000"/>
              </a:lnSpc>
              <a:buNone/>
            </a:pPr>
            <a:r>
              <a:rPr lang="en-US" sz="1100" dirty="0">
                <a:solidFill>
                  <a:srgbClr val="17141F"/>
                </a:solidFill>
                <a:latin typeface="Poppins" pitchFamily="34" charset="0"/>
                <a:ea typeface="Poppins" pitchFamily="34" charset="-122"/>
                <a:cs typeface="Poppins" pitchFamily="34" charset="-120"/>
              </a:rPr>
              <a:t>order entry</a:t>
            </a:r>
            <a:endParaRPr lang="en-US" sz="1100" dirty="0"/>
          </a:p>
        </p:txBody>
      </p:sp>
      <p:sp>
        <p:nvSpPr>
          <p:cNvPr id="35" name="Text 33"/>
          <p:cNvSpPr/>
          <p:nvPr/>
        </p:nvSpPr>
        <p:spPr>
          <a:xfrm>
            <a:off x="7492813" y="4457700"/>
            <a:ext cx="1015975" cy="184348"/>
          </a:xfrm>
          <a:prstGeom prst="rect">
            <a:avLst/>
          </a:prstGeom>
          <a:noFill/>
          <a:ln/>
        </p:spPr>
        <p:txBody>
          <a:bodyPr wrap="none" lIns="0" tIns="0" rIns="0" bIns="0" rtlCol="0" anchor="t"/>
          <a:lstStyle/>
          <a:p>
            <a:pPr marL="0" indent="0" algn="l">
              <a:lnSpc>
                <a:spcPct val="110000"/>
              </a:lnSpc>
              <a:buNone/>
            </a:pPr>
            <a:r>
              <a:rPr lang="en-US" sz="1100" b="1" dirty="0">
                <a:solidFill>
                  <a:srgbClr val="17141F"/>
                </a:solidFill>
                <a:latin typeface="Poppins Bold" pitchFamily="34" charset="0"/>
                <a:ea typeface="Poppins Bold" pitchFamily="34" charset="-122"/>
                <a:cs typeface="Poppins Bold" pitchFamily="34" charset="-120"/>
              </a:rPr>
              <a:t>Yes</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58786" y="558800"/>
            <a:ext cx="11074123" cy="548580"/>
          </a:xfrm>
          <a:prstGeom prst="rect">
            <a:avLst/>
          </a:prstGeom>
          <a:noFill/>
          <a:ln/>
        </p:spPr>
        <p:txBody>
          <a:bodyPr wrap="none" lIns="0" tIns="0" rIns="0" bIns="0" rtlCol="0" anchor="t"/>
          <a:lstStyle/>
          <a:p>
            <a:pPr marL="0" indent="0" algn="l">
              <a:lnSpc>
                <a:spcPct val="90000"/>
              </a:lnSpc>
              <a:buNone/>
            </a:pPr>
            <a:r>
              <a:rPr lang="en-US" sz="4000" kern="0" spc="-40" dirty="0">
                <a:solidFill>
                  <a:srgbClr val="17141F"/>
                </a:solidFill>
                <a:latin typeface="Gabarito ExtraBold" pitchFamily="34" charset="0"/>
                <a:ea typeface="Gabarito ExtraBold" pitchFamily="34" charset="-122"/>
                <a:cs typeface="Gabarito ExtraBold" pitchFamily="34" charset="-120"/>
              </a:rPr>
              <a:t>CO1 and CO2 control the system logic</a:t>
            </a:r>
            <a:endParaRPr lang="en-US" sz="4000" dirty="0"/>
          </a:p>
        </p:txBody>
      </p:sp>
      <p:sp>
        <p:nvSpPr>
          <p:cNvPr id="3" name="Shape 1"/>
          <p:cNvSpPr/>
          <p:nvPr/>
        </p:nvSpPr>
        <p:spPr>
          <a:xfrm>
            <a:off x="0" y="2495451"/>
            <a:ext cx="5867253" cy="4362549"/>
          </a:xfrm>
          <a:prstGeom prst="rect">
            <a:avLst/>
          </a:prstGeom>
          <a:solidFill>
            <a:srgbClr val="FFEBD6"/>
          </a:solidFill>
          <a:ln/>
        </p:spPr>
      </p:sp>
      <p:sp>
        <p:nvSpPr>
          <p:cNvPr id="4" name="Text 2"/>
          <p:cNvSpPr/>
          <p:nvPr/>
        </p:nvSpPr>
        <p:spPr>
          <a:xfrm>
            <a:off x="558786" y="3054251"/>
            <a:ext cx="4749681" cy="877689"/>
          </a:xfrm>
          <a:prstGeom prst="rect">
            <a:avLst/>
          </a:prstGeom>
          <a:noFill/>
          <a:ln/>
        </p:spPr>
        <p:txBody>
          <a:bodyPr wrap="square" lIns="0" tIns="0" rIns="0" bIns="0" rtlCol="0" anchor="t">
            <a:normAutofit/>
          </a:bodyPr>
          <a:lstStyle/>
          <a:p>
            <a:pPr marL="0" indent="0" algn="l">
              <a:lnSpc>
                <a:spcPct val="90000"/>
              </a:lnSpc>
              <a:buNone/>
            </a:pPr>
            <a:r>
              <a:rPr lang="en-US" sz="3200" kern="0" spc="-32" dirty="0">
                <a:solidFill>
                  <a:srgbClr val="17141F"/>
                </a:solidFill>
                <a:latin typeface="Poppins ExtraBold" pitchFamily="34" charset="0"/>
                <a:ea typeface="Poppins ExtraBold" pitchFamily="34" charset="-122"/>
                <a:cs typeface="Poppins ExtraBold" pitchFamily="34" charset="-120"/>
              </a:rPr>
              <a:t>CO1 · Input &amp; validation</a:t>
            </a:r>
            <a:endParaRPr lang="en-US" sz="3200" dirty="0"/>
          </a:p>
        </p:txBody>
      </p:sp>
      <p:sp>
        <p:nvSpPr>
          <p:cNvPr id="5" name="Text 3"/>
          <p:cNvSpPr/>
          <p:nvPr/>
        </p:nvSpPr>
        <p:spPr>
          <a:xfrm>
            <a:off x="558786" y="4166890"/>
            <a:ext cx="4749681" cy="2132310"/>
          </a:xfrm>
          <a:prstGeom prst="rect">
            <a:avLst/>
          </a:prstGeom>
          <a:noFill/>
          <a:ln/>
        </p:spPr>
        <p:txBody>
          <a:bodyPr wrap="square" lIns="0" tIns="0" rIns="0" bIns="0" rtlCol="0" anchor="t">
            <a:normAutofit/>
          </a:bodyPr>
          <a:lstStyle/>
          <a:p>
            <a:pPr marL="487680" indent="-487680" algn="l">
              <a:lnSpc>
                <a:spcPct val="110000"/>
              </a:lnSpc>
              <a:buSzPct val="100000"/>
              <a:buChar char="•"/>
            </a:pPr>
            <a:r>
              <a:rPr lang="en-US" sz="2400" b="1" dirty="0">
                <a:solidFill>
                  <a:srgbClr val="17141F"/>
                </a:solidFill>
                <a:latin typeface="Poppins Bold" pitchFamily="34" charset="0"/>
                <a:ea typeface="Poppins Bold" pitchFamily="34" charset="-122"/>
                <a:cs typeface="Poppins Bold" pitchFamily="34" charset="-120"/>
              </a:rPr>
              <a:t>Scanner class:</a:t>
            </a:r>
            <a:r>
              <a:rPr lang="en-US" sz="2400" dirty="0">
                <a:solidFill>
                  <a:srgbClr val="17141F"/>
                </a:solidFill>
                <a:latin typeface="Poppins" pitchFamily="34" charset="0"/>
                <a:ea typeface="Poppins" pitchFamily="34" charset="-122"/>
                <a:cs typeface="Poppins" pitchFamily="34" charset="-120"/>
              </a:rPr>
              <a:t> input.</a:t>
            </a:r>
            <a:endParaRPr lang="en-US" sz="2400" dirty="0"/>
          </a:p>
          <a:p>
            <a:pPr marL="487680" indent="-487680" algn="l">
              <a:lnSpc>
                <a:spcPct val="110000"/>
              </a:lnSpc>
              <a:buSzPct val="100000"/>
              <a:buChar char="•"/>
            </a:pPr>
            <a:r>
              <a:rPr lang="en-US" sz="2400" b="1" dirty="0">
                <a:solidFill>
                  <a:srgbClr val="17141F"/>
                </a:solidFill>
                <a:latin typeface="Poppins Bold" pitchFamily="34" charset="0"/>
                <a:ea typeface="Poppins Bold" pitchFamily="34" charset="-122"/>
                <a:cs typeface="Poppins Bold" pitchFamily="34" charset="-120"/>
              </a:rPr>
              <a:t>Arithmetic operators:</a:t>
            </a:r>
            <a:r>
              <a:rPr lang="en-US" sz="2400" dirty="0">
                <a:solidFill>
                  <a:srgbClr val="17141F"/>
                </a:solidFill>
                <a:latin typeface="Poppins" pitchFamily="34" charset="0"/>
                <a:ea typeface="Poppins" pitchFamily="34" charset="-122"/>
                <a:cs typeface="Poppins" pitchFamily="34" charset="-120"/>
              </a:rPr>
              <a:t> totals.</a:t>
            </a:r>
            <a:endParaRPr lang="en-US" sz="2400" dirty="0"/>
          </a:p>
          <a:p>
            <a:pPr marL="487680" indent="-487680" algn="l">
              <a:lnSpc>
                <a:spcPct val="110000"/>
              </a:lnSpc>
              <a:buSzPct val="100000"/>
              <a:buChar char="•"/>
            </a:pPr>
            <a:r>
              <a:rPr lang="en-US" sz="2400" b="1" dirty="0">
                <a:solidFill>
                  <a:srgbClr val="17141F"/>
                </a:solidFill>
                <a:latin typeface="Poppins Bold" pitchFamily="34" charset="0"/>
                <a:ea typeface="Poppins Bold" pitchFamily="34" charset="-122"/>
                <a:cs typeface="Poppins Bold" pitchFamily="34" charset="-120"/>
              </a:rPr>
              <a:t>Comparisonal operators:</a:t>
            </a:r>
            <a:r>
              <a:rPr lang="en-US" sz="2400" dirty="0">
                <a:solidFill>
                  <a:srgbClr val="17141F"/>
                </a:solidFill>
                <a:latin typeface="Poppins" pitchFamily="34" charset="0"/>
                <a:ea typeface="Poppins" pitchFamily="34" charset="-122"/>
                <a:cs typeface="Poppins" pitchFamily="34" charset="-120"/>
              </a:rPr>
              <a:t> validation.</a:t>
            </a:r>
            <a:endParaRPr lang="en-US" sz="2400" dirty="0"/>
          </a:p>
        </p:txBody>
      </p:sp>
      <p:sp>
        <p:nvSpPr>
          <p:cNvPr id="6" name="Shape 4"/>
          <p:cNvSpPr/>
          <p:nvPr/>
        </p:nvSpPr>
        <p:spPr>
          <a:xfrm>
            <a:off x="6324442" y="2495451"/>
            <a:ext cx="5867253" cy="4362549"/>
          </a:xfrm>
          <a:prstGeom prst="rect">
            <a:avLst/>
          </a:prstGeom>
          <a:solidFill>
            <a:srgbClr val="FFEBD6"/>
          </a:solidFill>
          <a:ln/>
        </p:spPr>
      </p:sp>
      <p:sp>
        <p:nvSpPr>
          <p:cNvPr id="7" name="Text 5"/>
          <p:cNvSpPr/>
          <p:nvPr/>
        </p:nvSpPr>
        <p:spPr>
          <a:xfrm>
            <a:off x="6883228" y="3054251"/>
            <a:ext cx="4749681" cy="877689"/>
          </a:xfrm>
          <a:prstGeom prst="rect">
            <a:avLst/>
          </a:prstGeom>
          <a:noFill/>
          <a:ln/>
        </p:spPr>
        <p:txBody>
          <a:bodyPr wrap="square" lIns="0" tIns="0" rIns="0" bIns="0" rtlCol="0" anchor="t">
            <a:normAutofit/>
          </a:bodyPr>
          <a:lstStyle/>
          <a:p>
            <a:pPr marL="0" indent="0" algn="l">
              <a:lnSpc>
                <a:spcPct val="90000"/>
              </a:lnSpc>
              <a:buNone/>
            </a:pPr>
            <a:r>
              <a:rPr lang="en-US" sz="3200" kern="0" spc="-32" dirty="0">
                <a:solidFill>
                  <a:srgbClr val="17141F"/>
                </a:solidFill>
                <a:latin typeface="Poppins ExtraBold" pitchFamily="34" charset="0"/>
                <a:ea typeface="Poppins ExtraBold" pitchFamily="34" charset="-122"/>
                <a:cs typeface="Poppins ExtraBold" pitchFamily="34" charset="-120"/>
              </a:rPr>
              <a:t>CO2 · Repetition &amp; decisions</a:t>
            </a:r>
            <a:endParaRPr lang="en-US" sz="3200" dirty="0"/>
          </a:p>
        </p:txBody>
      </p:sp>
      <p:sp>
        <p:nvSpPr>
          <p:cNvPr id="8" name="Text 6"/>
          <p:cNvSpPr/>
          <p:nvPr/>
        </p:nvSpPr>
        <p:spPr>
          <a:xfrm>
            <a:off x="6883228" y="4166890"/>
            <a:ext cx="4749681" cy="2132310"/>
          </a:xfrm>
          <a:prstGeom prst="rect">
            <a:avLst/>
          </a:prstGeom>
          <a:noFill/>
          <a:ln/>
        </p:spPr>
        <p:txBody>
          <a:bodyPr wrap="square" lIns="0" tIns="0" rIns="0" bIns="0" rtlCol="0" anchor="t">
            <a:normAutofit/>
          </a:bodyPr>
          <a:lstStyle/>
          <a:p>
            <a:pPr marL="487680" indent="-487680" algn="l">
              <a:lnSpc>
                <a:spcPct val="110000"/>
              </a:lnSpc>
              <a:buSzPct val="100000"/>
              <a:buChar char="•"/>
            </a:pPr>
            <a:r>
              <a:rPr lang="en-US" sz="2400" b="1" dirty="0">
                <a:solidFill>
                  <a:srgbClr val="17141F"/>
                </a:solidFill>
                <a:latin typeface="Poppins Bold" pitchFamily="34" charset="0"/>
                <a:ea typeface="Poppins Bold" pitchFamily="34" charset="-122"/>
                <a:cs typeface="Poppins Bold" pitchFamily="34" charset="-120"/>
              </a:rPr>
              <a:t>For loop:</a:t>
            </a:r>
            <a:r>
              <a:rPr lang="en-US" sz="2400" dirty="0">
                <a:solidFill>
                  <a:srgbClr val="17141F"/>
                </a:solidFill>
                <a:latin typeface="Poppins" pitchFamily="34" charset="0"/>
                <a:ea typeface="Poppins" pitchFamily="34" charset="-122"/>
                <a:cs typeface="Poppins" pitchFamily="34" charset="-120"/>
              </a:rPr>
              <a:t> multiple items.</a:t>
            </a:r>
            <a:endParaRPr lang="en-US" sz="2400" dirty="0"/>
          </a:p>
          <a:p>
            <a:pPr marL="487680" indent="-487680" algn="l">
              <a:lnSpc>
                <a:spcPct val="110000"/>
              </a:lnSpc>
              <a:buSzPct val="100000"/>
              <a:buChar char="•"/>
            </a:pPr>
            <a:r>
              <a:rPr lang="en-US" sz="2400" b="1" dirty="0">
                <a:solidFill>
                  <a:srgbClr val="17141F"/>
                </a:solidFill>
                <a:latin typeface="Poppins Bold" pitchFamily="34" charset="0"/>
                <a:ea typeface="Poppins Bold" pitchFamily="34" charset="-122"/>
                <a:cs typeface="Poppins Bold" pitchFamily="34" charset="-120"/>
              </a:rPr>
              <a:t>if, if-else and else-if:</a:t>
            </a:r>
            <a:r>
              <a:rPr lang="en-US" sz="2400" dirty="0">
                <a:solidFill>
                  <a:srgbClr val="17141F"/>
                </a:solidFill>
                <a:latin typeface="Poppins" pitchFamily="34" charset="0"/>
                <a:ea typeface="Poppins" pitchFamily="34" charset="-122"/>
                <a:cs typeface="Poppins" pitchFamily="34" charset="-120"/>
              </a:rPr>
              <a:t> decisions.</a:t>
            </a:r>
            <a:endParaRPr lang="en-US" sz="2400" dirty="0"/>
          </a:p>
          <a:p>
            <a:pPr marL="487680" indent="-487680" algn="l">
              <a:lnSpc>
                <a:spcPct val="110000"/>
              </a:lnSpc>
              <a:buSzPct val="100000"/>
              <a:buChar char="•"/>
            </a:pPr>
            <a:r>
              <a:rPr lang="en-US" sz="2400" b="1" dirty="0">
                <a:solidFill>
                  <a:srgbClr val="17141F"/>
                </a:solidFill>
                <a:latin typeface="Poppins Bold" pitchFamily="34" charset="0"/>
                <a:ea typeface="Poppins Bold" pitchFamily="34" charset="-122"/>
                <a:cs typeface="Poppins Bold" pitchFamily="34" charset="-120"/>
              </a:rPr>
              <a:t>Switch conditions:</a:t>
            </a:r>
            <a:r>
              <a:rPr lang="en-US" sz="2400" dirty="0">
                <a:solidFill>
                  <a:srgbClr val="17141F"/>
                </a:solidFill>
                <a:latin typeface="Poppins" pitchFamily="34" charset="0"/>
                <a:ea typeface="Poppins" pitchFamily="34" charset="-122"/>
                <a:cs typeface="Poppins" pitchFamily="34" charset="-120"/>
              </a:rPr>
              <a:t> menu actions.</a:t>
            </a:r>
            <a:endParaRPr lang="en-US" sz="2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58786" y="558800"/>
            <a:ext cx="11632909" cy="231080"/>
          </a:xfrm>
          <a:prstGeom prst="rect">
            <a:avLst/>
          </a:prstGeom>
          <a:noFill/>
          <a:ln/>
        </p:spPr>
        <p:txBody>
          <a:bodyPr wrap="none" lIns="0" tIns="0" rIns="0" bIns="0" rtlCol="0" anchor="t"/>
          <a:lstStyle/>
          <a:p>
            <a:pPr marL="0" indent="0" algn="l">
              <a:lnSpc>
                <a:spcPct val="108000"/>
              </a:lnSpc>
              <a:buNone/>
            </a:pPr>
            <a:r>
              <a:rPr lang="en-US" sz="1400" dirty="0">
                <a:solidFill>
                  <a:srgbClr val="5A5163"/>
                </a:solidFill>
                <a:latin typeface="Poppins" pitchFamily="34" charset="0"/>
                <a:ea typeface="Poppins" pitchFamily="34" charset="-122"/>
                <a:cs typeface="Poppins" pitchFamily="34" charset="-120"/>
              </a:rPr>
              <a:t>PROGRAMMING TOPICS</a:t>
            </a:r>
            <a:endParaRPr lang="en-US" sz="1400" dirty="0"/>
          </a:p>
        </p:txBody>
      </p:sp>
      <p:sp>
        <p:nvSpPr>
          <p:cNvPr id="3" name="Text 1"/>
          <p:cNvSpPr/>
          <p:nvPr/>
        </p:nvSpPr>
        <p:spPr>
          <a:xfrm>
            <a:off x="558786" y="1193105"/>
            <a:ext cx="11074123" cy="548580"/>
          </a:xfrm>
          <a:prstGeom prst="rect">
            <a:avLst/>
          </a:prstGeom>
          <a:noFill/>
          <a:ln/>
        </p:spPr>
        <p:txBody>
          <a:bodyPr wrap="none" lIns="0" tIns="0" rIns="0" bIns="0" rtlCol="0" anchor="t"/>
          <a:lstStyle/>
          <a:p>
            <a:pPr marL="0" indent="0" algn="l">
              <a:lnSpc>
                <a:spcPct val="90000"/>
              </a:lnSpc>
              <a:buNone/>
            </a:pPr>
            <a:r>
              <a:rPr lang="en-US" sz="4000" kern="0" spc="-40" dirty="0">
                <a:solidFill>
                  <a:srgbClr val="17141F"/>
                </a:solidFill>
                <a:latin typeface="Gabarito ExtraBold" pitchFamily="34" charset="0"/>
                <a:ea typeface="Gabarito ExtraBold" pitchFamily="34" charset="-122"/>
                <a:cs typeface="Gabarito ExtraBold" pitchFamily="34" charset="-120"/>
              </a:rPr>
              <a:t>CO3 organizes reusable logic and data</a:t>
            </a:r>
            <a:endParaRPr lang="en-US" sz="4000" dirty="0"/>
          </a:p>
        </p:txBody>
      </p:sp>
      <p:sp>
        <p:nvSpPr>
          <p:cNvPr id="4" name="Shape 2"/>
          <p:cNvSpPr/>
          <p:nvPr/>
        </p:nvSpPr>
        <p:spPr>
          <a:xfrm>
            <a:off x="558786" y="1976636"/>
            <a:ext cx="5384665" cy="2274689"/>
          </a:xfrm>
          <a:prstGeom prst="rect">
            <a:avLst/>
          </a:prstGeom>
          <a:solidFill>
            <a:srgbClr val="FFEBD6"/>
          </a:solidFill>
          <a:ln/>
        </p:spPr>
      </p:sp>
      <p:sp>
        <p:nvSpPr>
          <p:cNvPr id="5" name="Text 3"/>
          <p:cNvSpPr/>
          <p:nvPr/>
        </p:nvSpPr>
        <p:spPr>
          <a:xfrm>
            <a:off x="787380" y="2205236"/>
            <a:ext cx="5156071" cy="243780"/>
          </a:xfrm>
          <a:prstGeom prst="rect">
            <a:avLst/>
          </a:prstGeom>
          <a:noFill/>
          <a:ln/>
        </p:spPr>
        <p:txBody>
          <a:bodyPr wrap="none" lIns="0" tIns="0" rIns="0" bIns="0" rtlCol="0" anchor="t"/>
          <a:lstStyle/>
          <a:p>
            <a:pPr marL="0" indent="0" algn="l">
              <a:lnSpc>
                <a:spcPct val="100000"/>
              </a:lnSpc>
              <a:buNone/>
            </a:pPr>
            <a:r>
              <a:rPr lang="en-US" sz="1600" kern="0" spc="16" dirty="0">
                <a:solidFill>
                  <a:srgbClr val="17141F"/>
                </a:solidFill>
                <a:latin typeface="Poppins SemiBold" pitchFamily="34" charset="0"/>
                <a:ea typeface="Poppins SemiBold" pitchFamily="34" charset="-122"/>
                <a:cs typeface="Poppins SemiBold" pitchFamily="34" charset="-120"/>
              </a:rPr>
              <a:t>REUSABLE LOGIC</a:t>
            </a:r>
            <a:endParaRPr lang="en-US" sz="1600" dirty="0"/>
          </a:p>
        </p:txBody>
      </p:sp>
      <p:sp>
        <p:nvSpPr>
          <p:cNvPr id="6" name="Text 4"/>
          <p:cNvSpPr/>
          <p:nvPr/>
        </p:nvSpPr>
        <p:spPr>
          <a:xfrm>
            <a:off x="787380" y="2544266"/>
            <a:ext cx="4927477" cy="438845"/>
          </a:xfrm>
          <a:prstGeom prst="rect">
            <a:avLst/>
          </a:prstGeom>
          <a:noFill/>
          <a:ln/>
        </p:spPr>
        <p:txBody>
          <a:bodyPr wrap="none" lIns="0" tIns="0" rIns="0" bIns="0" rtlCol="0" anchor="t"/>
          <a:lstStyle/>
          <a:p>
            <a:pPr marL="0" indent="0" algn="l">
              <a:lnSpc>
                <a:spcPct val="90000"/>
              </a:lnSpc>
              <a:buNone/>
            </a:pPr>
            <a:r>
              <a:rPr lang="en-US" sz="3200" kern="0" spc="-32" dirty="0">
                <a:solidFill>
                  <a:srgbClr val="17141F"/>
                </a:solidFill>
                <a:latin typeface="Poppins ExtraBold" pitchFamily="34" charset="0"/>
                <a:ea typeface="Poppins ExtraBold" pitchFamily="34" charset="-122"/>
                <a:cs typeface="Poppins ExtraBold" pitchFamily="34" charset="-120"/>
              </a:rPr>
              <a:t>Methods</a:t>
            </a:r>
            <a:endParaRPr lang="en-US" sz="3200" dirty="0"/>
          </a:p>
        </p:txBody>
      </p:sp>
      <p:sp>
        <p:nvSpPr>
          <p:cNvPr id="7" name="Text 5"/>
          <p:cNvSpPr/>
          <p:nvPr/>
        </p:nvSpPr>
        <p:spPr>
          <a:xfrm>
            <a:off x="787380" y="3218061"/>
            <a:ext cx="4927477" cy="804664"/>
          </a:xfrm>
          <a:prstGeom prst="rect">
            <a:avLst/>
          </a:prstGeom>
          <a:noFill/>
          <a:ln/>
        </p:spPr>
        <p:txBody>
          <a:bodyPr wrap="square" lIns="0" tIns="0" rIns="0" bIns="0" rtlCol="0" anchor="t">
            <a:normAutofit/>
          </a:bodyPr>
          <a:lstStyle/>
          <a:p>
            <a:pPr marL="0" indent="0" algn="l">
              <a:lnSpc>
                <a:spcPct val="110000"/>
              </a:lnSpc>
              <a:buNone/>
            </a:pPr>
            <a:r>
              <a:rPr lang="en-US" sz="2400" dirty="0">
                <a:solidFill>
                  <a:srgbClr val="17141F"/>
                </a:solidFill>
                <a:latin typeface="Poppins" pitchFamily="34" charset="0"/>
                <a:ea typeface="Poppins" pitchFamily="34" charset="-122"/>
                <a:cs typeface="Poppins" pitchFamily="34" charset="-120"/>
              </a:rPr>
              <a:t>Separate ordering, kitchen display and billing tasks.</a:t>
            </a:r>
            <a:endParaRPr lang="en-US" sz="2400" dirty="0"/>
          </a:p>
        </p:txBody>
      </p:sp>
      <p:sp>
        <p:nvSpPr>
          <p:cNvPr id="8" name="Shape 6"/>
          <p:cNvSpPr/>
          <p:nvPr/>
        </p:nvSpPr>
        <p:spPr>
          <a:xfrm>
            <a:off x="6248244" y="1976636"/>
            <a:ext cx="5384665" cy="2274689"/>
          </a:xfrm>
          <a:prstGeom prst="rect">
            <a:avLst/>
          </a:prstGeom>
          <a:solidFill>
            <a:srgbClr val="FFEBD6"/>
          </a:solidFill>
          <a:ln/>
        </p:spPr>
      </p:sp>
      <p:sp>
        <p:nvSpPr>
          <p:cNvPr id="9" name="Text 7"/>
          <p:cNvSpPr/>
          <p:nvPr/>
        </p:nvSpPr>
        <p:spPr>
          <a:xfrm>
            <a:off x="6476838" y="2205236"/>
            <a:ext cx="5156071" cy="243780"/>
          </a:xfrm>
          <a:prstGeom prst="rect">
            <a:avLst/>
          </a:prstGeom>
          <a:noFill/>
          <a:ln/>
        </p:spPr>
        <p:txBody>
          <a:bodyPr wrap="none" lIns="0" tIns="0" rIns="0" bIns="0" rtlCol="0" anchor="t"/>
          <a:lstStyle/>
          <a:p>
            <a:pPr marL="0" indent="0" algn="l">
              <a:lnSpc>
                <a:spcPct val="100000"/>
              </a:lnSpc>
              <a:buNone/>
            </a:pPr>
            <a:r>
              <a:rPr lang="en-US" sz="1600" kern="0" spc="16" dirty="0">
                <a:solidFill>
                  <a:srgbClr val="17141F"/>
                </a:solidFill>
                <a:latin typeface="Poppins SemiBold" pitchFamily="34" charset="0"/>
                <a:ea typeface="Poppins SemiBold" pitchFamily="34" charset="-122"/>
                <a:cs typeface="Poppins SemiBold" pitchFamily="34" charset="-120"/>
              </a:rPr>
              <a:t>ORGANIZED DATA</a:t>
            </a:r>
            <a:endParaRPr lang="en-US" sz="1600" dirty="0"/>
          </a:p>
        </p:txBody>
      </p:sp>
      <p:sp>
        <p:nvSpPr>
          <p:cNvPr id="10" name="Text 8"/>
          <p:cNvSpPr/>
          <p:nvPr/>
        </p:nvSpPr>
        <p:spPr>
          <a:xfrm>
            <a:off x="6476838" y="2544266"/>
            <a:ext cx="4927477" cy="438845"/>
          </a:xfrm>
          <a:prstGeom prst="rect">
            <a:avLst/>
          </a:prstGeom>
          <a:noFill/>
          <a:ln/>
        </p:spPr>
        <p:txBody>
          <a:bodyPr wrap="none" lIns="0" tIns="0" rIns="0" bIns="0" rtlCol="0" anchor="t"/>
          <a:lstStyle/>
          <a:p>
            <a:pPr marL="0" indent="0" algn="l">
              <a:lnSpc>
                <a:spcPct val="90000"/>
              </a:lnSpc>
              <a:buNone/>
            </a:pPr>
            <a:r>
              <a:rPr lang="en-US" sz="3200" kern="0" spc="-32" dirty="0">
                <a:solidFill>
                  <a:srgbClr val="17141F"/>
                </a:solidFill>
                <a:latin typeface="Poppins ExtraBold" pitchFamily="34" charset="0"/>
                <a:ea typeface="Poppins ExtraBold" pitchFamily="34" charset="-122"/>
                <a:cs typeface="Poppins ExtraBold" pitchFamily="34" charset="-120"/>
              </a:rPr>
              <a:t>Arrays</a:t>
            </a:r>
            <a:endParaRPr lang="en-US" sz="3200" dirty="0"/>
          </a:p>
        </p:txBody>
      </p:sp>
      <p:sp>
        <p:nvSpPr>
          <p:cNvPr id="11" name="Text 9"/>
          <p:cNvSpPr/>
          <p:nvPr/>
        </p:nvSpPr>
        <p:spPr>
          <a:xfrm>
            <a:off x="6476838" y="3218061"/>
            <a:ext cx="4927477" cy="804664"/>
          </a:xfrm>
          <a:prstGeom prst="rect">
            <a:avLst/>
          </a:prstGeom>
          <a:noFill/>
          <a:ln/>
        </p:spPr>
        <p:txBody>
          <a:bodyPr wrap="square" lIns="0" tIns="0" rIns="0" bIns="0" rtlCol="0" anchor="t">
            <a:normAutofit/>
          </a:bodyPr>
          <a:lstStyle/>
          <a:p>
            <a:pPr marL="0" indent="0" algn="l">
              <a:lnSpc>
                <a:spcPct val="110000"/>
              </a:lnSpc>
              <a:buNone/>
            </a:pPr>
            <a:r>
              <a:rPr lang="en-US" sz="2400" dirty="0">
                <a:solidFill>
                  <a:srgbClr val="17141F"/>
                </a:solidFill>
                <a:latin typeface="Poppins" pitchFamily="34" charset="0"/>
                <a:ea typeface="Poppins" pitchFamily="34" charset="-122"/>
                <a:cs typeface="Poppins" pitchFamily="34" charset="-120"/>
              </a:rPr>
              <a:t>Store menu items, quantities and prices.</a:t>
            </a:r>
            <a:endParaRPr lang="en-US" sz="2400" dirty="0"/>
          </a:p>
        </p:txBody>
      </p:sp>
      <p:sp>
        <p:nvSpPr>
          <p:cNvPr id="12" name="Text 10"/>
          <p:cNvSpPr/>
          <p:nvPr/>
        </p:nvSpPr>
        <p:spPr>
          <a:xfrm>
            <a:off x="558786" y="4464050"/>
            <a:ext cx="11074123" cy="804664"/>
          </a:xfrm>
          <a:prstGeom prst="rect">
            <a:avLst/>
          </a:prstGeom>
          <a:noFill/>
          <a:ln/>
        </p:spPr>
        <p:txBody>
          <a:bodyPr wrap="square" lIns="0" tIns="0" rIns="0" bIns="0" rtlCol="0" anchor="t">
            <a:normAutofit/>
          </a:bodyPr>
          <a:lstStyle/>
          <a:p>
            <a:pPr marL="0" indent="0" algn="l">
              <a:lnSpc>
                <a:spcPct val="110000"/>
              </a:lnSpc>
              <a:buNone/>
            </a:pPr>
            <a:r>
              <a:rPr lang="en-US" sz="2400" dirty="0">
                <a:solidFill>
                  <a:srgbClr val="17141F"/>
                </a:solidFill>
                <a:latin typeface="Poppins" pitchFamily="34" charset="0"/>
                <a:ea typeface="Poppins" pitchFamily="34" charset="-122"/>
                <a:cs typeface="Poppins" pitchFamily="34" charset="-120"/>
              </a:rPr>
              <a:t>Together, these topics make the program easier to read, test and extend.</a:t>
            </a:r>
            <a:endParaRPr lang="en-US" sz="2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58786" y="1455142"/>
            <a:ext cx="7975400" cy="402332"/>
          </a:xfrm>
          <a:prstGeom prst="rect">
            <a:avLst/>
          </a:prstGeom>
          <a:noFill/>
          <a:ln/>
        </p:spPr>
        <p:txBody>
          <a:bodyPr wrap="none" lIns="0" tIns="0" rIns="0" bIns="0" rtlCol="0" anchor="t"/>
          <a:lstStyle/>
          <a:p>
            <a:pPr marL="0" indent="0" algn="l">
              <a:lnSpc>
                <a:spcPct val="110000"/>
              </a:lnSpc>
              <a:buNone/>
            </a:pPr>
            <a:r>
              <a:rPr lang="en-US" sz="2400" dirty="0">
                <a:solidFill>
                  <a:srgbClr val="17141F"/>
                </a:solidFill>
                <a:latin typeface="Poppins" pitchFamily="34" charset="0"/>
                <a:ea typeface="Poppins" pitchFamily="34" charset="-122"/>
                <a:cs typeface="Poppins" pitchFamily="34" charset="-120"/>
              </a:rPr>
              <a:t>OUTPUT:</a:t>
            </a:r>
            <a:endParaRPr lang="en-US" sz="2400" dirty="0"/>
          </a:p>
        </p:txBody>
      </p:sp>
      <p:pic>
        <p:nvPicPr>
          <p:cNvPr id="3" name="Image 0" descr="preencoded.png"/>
          <p:cNvPicPr>
            <a:picLocks noChangeAspect="1"/>
          </p:cNvPicPr>
          <p:nvPr/>
        </p:nvPicPr>
        <p:blipFill>
          <a:blip r:embed="rId3"/>
          <a:stretch>
            <a:fillRect/>
          </a:stretch>
        </p:blipFill>
        <p:spPr>
          <a:xfrm>
            <a:off x="558786" y="2070199"/>
            <a:ext cx="3581310" cy="4229001"/>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253994" y="1911648"/>
            <a:ext cx="11683708" cy="243780"/>
          </a:xfrm>
          <a:prstGeom prst="rect">
            <a:avLst/>
          </a:prstGeom>
          <a:noFill/>
          <a:ln/>
        </p:spPr>
        <p:txBody>
          <a:bodyPr wrap="none" lIns="0" tIns="0" rIns="0" bIns="0" rtlCol="0" anchor="t"/>
          <a:lstStyle/>
          <a:p>
            <a:pPr marL="0" indent="0" algn="ctr">
              <a:lnSpc>
                <a:spcPct val="100000"/>
              </a:lnSpc>
              <a:buNone/>
            </a:pPr>
            <a:r>
              <a:rPr lang="en-US" sz="1600" kern="0" spc="16" dirty="0">
                <a:solidFill>
                  <a:srgbClr val="8A4B2A"/>
                </a:solidFill>
                <a:latin typeface="Poppins SemiBold" pitchFamily="34" charset="0"/>
                <a:ea typeface="Poppins SemiBold" pitchFamily="34" charset="-122"/>
                <a:cs typeface="Poppins SemiBold" pitchFamily="34" charset="-120"/>
              </a:rPr>
              <a:t>DINING · HOSPITALITY · SERVICE</a:t>
            </a:r>
            <a:endParaRPr lang="en-US" sz="1600" dirty="0"/>
          </a:p>
        </p:txBody>
      </p:sp>
      <p:sp>
        <p:nvSpPr>
          <p:cNvPr id="3" name="Text 1"/>
          <p:cNvSpPr/>
          <p:nvPr/>
        </p:nvSpPr>
        <p:spPr>
          <a:xfrm>
            <a:off x="253994" y="2384028"/>
            <a:ext cx="11683708" cy="402332"/>
          </a:xfrm>
          <a:prstGeom prst="rect">
            <a:avLst/>
          </a:prstGeom>
          <a:noFill/>
          <a:ln/>
        </p:spPr>
        <p:txBody>
          <a:bodyPr wrap="none" lIns="0" tIns="0" rIns="0" bIns="0" rtlCol="0" anchor="t"/>
          <a:lstStyle/>
          <a:p>
            <a:pPr marL="0" indent="0" algn="ctr">
              <a:lnSpc>
                <a:spcPct val="110000"/>
              </a:lnSpc>
              <a:buNone/>
            </a:pPr>
            <a:r>
              <a:rPr lang="en-US" sz="2400" dirty="0">
                <a:solidFill>
                  <a:srgbClr val="8A4B2A"/>
                </a:solidFill>
                <a:latin typeface="Poppins" pitchFamily="34" charset="0"/>
                <a:ea typeface="Poppins" pitchFamily="34" charset="-122"/>
                <a:cs typeface="Poppins" pitchFamily="34" charset="-120"/>
              </a:rPr>
              <a:t>✦  BON APPÉTIT  ✦</a:t>
            </a:r>
            <a:endParaRPr lang="en-US" sz="2400" dirty="0"/>
          </a:p>
        </p:txBody>
      </p:sp>
      <p:sp>
        <p:nvSpPr>
          <p:cNvPr id="4" name="Text 2"/>
          <p:cNvSpPr/>
          <p:nvPr/>
        </p:nvSpPr>
        <p:spPr>
          <a:xfrm>
            <a:off x="558786" y="2913360"/>
            <a:ext cx="11074123" cy="548580"/>
          </a:xfrm>
          <a:prstGeom prst="rect">
            <a:avLst/>
          </a:prstGeom>
          <a:noFill/>
          <a:ln/>
        </p:spPr>
        <p:txBody>
          <a:bodyPr wrap="none" lIns="0" tIns="0" rIns="0" bIns="0" rtlCol="0" anchor="t"/>
          <a:lstStyle/>
          <a:p>
            <a:pPr marL="0" indent="0" algn="ctr">
              <a:lnSpc>
                <a:spcPct val="90000"/>
              </a:lnSpc>
              <a:buNone/>
            </a:pPr>
            <a:r>
              <a:rPr lang="en-US" sz="4000" kern="0" spc="-40" dirty="0">
                <a:solidFill>
                  <a:srgbClr val="5C1F1B"/>
                </a:solidFill>
                <a:latin typeface="Gabarito ExtraBold" pitchFamily="34" charset="0"/>
                <a:ea typeface="Gabarito ExtraBold" pitchFamily="34" charset="-122"/>
                <a:cs typeface="Gabarito ExtraBold" pitchFamily="34" charset="-120"/>
              </a:rPr>
              <a:t>Thank You</a:t>
            </a:r>
            <a:endParaRPr lang="en-US" sz="4000" dirty="0"/>
          </a:p>
        </p:txBody>
      </p:sp>
      <p:sp>
        <p:nvSpPr>
          <p:cNvPr id="5" name="Shape 3"/>
          <p:cNvSpPr/>
          <p:nvPr/>
        </p:nvSpPr>
        <p:spPr>
          <a:xfrm>
            <a:off x="4268581" y="3773091"/>
            <a:ext cx="3654334" cy="38100"/>
          </a:xfrm>
          <a:prstGeom prst="roundRect">
            <a:avLst>
              <a:gd name="adj" fmla="val 49999"/>
            </a:avLst>
          </a:prstGeom>
          <a:solidFill>
            <a:srgbClr val="8A4B2A"/>
          </a:solidFill>
          <a:ln/>
        </p:spPr>
      </p:sp>
      <p:sp>
        <p:nvSpPr>
          <p:cNvPr id="6" name="Text 4"/>
          <p:cNvSpPr/>
          <p:nvPr/>
        </p:nvSpPr>
        <p:spPr>
          <a:xfrm>
            <a:off x="253994" y="4100116"/>
            <a:ext cx="11683708" cy="402332"/>
          </a:xfrm>
          <a:prstGeom prst="rect">
            <a:avLst/>
          </a:prstGeom>
          <a:noFill/>
          <a:ln/>
        </p:spPr>
        <p:txBody>
          <a:bodyPr wrap="none" lIns="0" tIns="0" rIns="0" bIns="0" rtlCol="0" anchor="t"/>
          <a:lstStyle/>
          <a:p>
            <a:pPr marL="0" indent="0" algn="ctr">
              <a:lnSpc>
                <a:spcPct val="110000"/>
              </a:lnSpc>
              <a:buNone/>
            </a:pPr>
            <a:r>
              <a:rPr lang="en-US" sz="2400" dirty="0">
                <a:solidFill>
                  <a:srgbClr val="5C1F1B"/>
                </a:solidFill>
                <a:latin typeface="Poppins" pitchFamily="34" charset="0"/>
                <a:ea typeface="Poppins" pitchFamily="34" charset="-122"/>
                <a:cs typeface="Poppins" pitchFamily="34" charset="-120"/>
              </a:rPr>
              <a:t>Thank you for your attention</a:t>
            </a:r>
            <a:endParaRPr lang="en-US" sz="2400" dirty="0"/>
          </a:p>
        </p:txBody>
      </p:sp>
      <p:sp>
        <p:nvSpPr>
          <p:cNvPr id="7" name="Text 5"/>
          <p:cNvSpPr/>
          <p:nvPr/>
        </p:nvSpPr>
        <p:spPr>
          <a:xfrm>
            <a:off x="253994" y="4715173"/>
            <a:ext cx="11683708" cy="231080"/>
          </a:xfrm>
          <a:prstGeom prst="rect">
            <a:avLst/>
          </a:prstGeom>
          <a:noFill/>
          <a:ln/>
        </p:spPr>
        <p:txBody>
          <a:bodyPr wrap="none" lIns="0" tIns="0" rIns="0" bIns="0" rtlCol="0" anchor="t"/>
          <a:lstStyle/>
          <a:p>
            <a:pPr marL="0" indent="0" algn="ctr">
              <a:lnSpc>
                <a:spcPct val="108000"/>
              </a:lnSpc>
              <a:buNone/>
            </a:pPr>
            <a:r>
              <a:rPr lang="en-US" sz="1400" dirty="0">
                <a:solidFill>
                  <a:srgbClr val="8A4B2A"/>
                </a:solidFill>
                <a:latin typeface="Poppins" pitchFamily="34" charset="0"/>
                <a:ea typeface="Poppins" pitchFamily="34" charset="-122"/>
                <a:cs typeface="Poppins" pitchFamily="34" charset="-120"/>
              </a:rPr>
              <a:t>A smoother service, from order to table</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454</Words>
  <Application>Microsoft Office PowerPoint</Application>
  <PresentationFormat>Widescreen</PresentationFormat>
  <Paragraphs>104</Paragraphs>
  <Slides>10</Slides>
  <Notes>10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10</vt:i4>
      </vt:variant>
    </vt:vector>
  </HeadingPairs>
  <TitlesOfParts>
    <vt:vector size="18" baseType="lpstr">
      <vt:lpstr>Gabarito ExtraBold</vt:lpstr>
      <vt:lpstr>Poppins Medium</vt:lpstr>
      <vt:lpstr>Poppins Bold</vt:lpstr>
      <vt:lpstr>Poppins ExtraBold</vt:lpstr>
      <vt:lpstr>Poppins SemiBold</vt:lpstr>
      <vt:lpstr>Poppins</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DELL</dc:creator>
  <cp:lastModifiedBy>Sai Hithesree Gannavarapu</cp:lastModifiedBy>
  <cp:revision>1</cp:revision>
  <dcterms:created xsi:type="dcterms:W3CDTF">2026-09-29T05:19:24Z</dcterms:created>
  <dcterms:modified xsi:type="dcterms:W3CDTF">2026-10-08T03:52:56Z</dcterms:modified>
</cp:coreProperties>
</file>